
<file path=[Content_Types].xml><?xml version="1.0" encoding="utf-8"?>
<Types xmlns="http://schemas.openxmlformats.org/package/2006/content-types">
  <Default Extension="fntdata" ContentType="application/x-fontdata"/>
  <Default Extension="jpeg" ContentType="image/jpeg"/>
  <Default Extension="mp4" ContentType="video/mp4"/>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sldSz cx="18288000" cy="10287000"/>
  <p:notesSz cx="6858000" cy="9144000"/>
  <p:embeddedFontLst>
    <p:embeddedFont>
      <p:font typeface="Arial Bold" panose="020B0704020202020204" pitchFamily="34" charset="0"/>
      <p:regular r:id="rId23"/>
      <p:bold r:id="rId24"/>
    </p:embeddedFont>
    <p:embeddedFont>
      <p:font typeface="Noto Sans" panose="020B0502040504020204" pitchFamily="34" charset="0"/>
      <p:regular r:id="rId25"/>
    </p:embeddedFont>
    <p:embeddedFont>
      <p:font typeface="Noto Sans Bold" panose="020B0802040504020204" charset="0"/>
      <p:regular r:id="rId2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40" d="100"/>
          <a:sy n="40" d="100"/>
        </p:scale>
        <p:origin x="900" y="5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4.fntdata"/><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3.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2.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1.fntdata"/><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10/8/2026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10/8/2026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10/8/2026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10/8/2026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10/8/2026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svg"/><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4.svg"/><Relationship Id="rId4" Type="http://schemas.openxmlformats.org/officeDocument/2006/relationships/image" Target="../media/image3.svg"/></Relationships>
</file>

<file path=ppt/slides/_rels/slide2.xml.rels><?xml version="1.0" encoding="UTF-8" standalone="yes"?>
<Relationships xmlns="http://schemas.openxmlformats.org/package/2006/relationships"><Relationship Id="rId2" Type="http://schemas.openxmlformats.org/officeDocument/2006/relationships/image" Target="../media/image8.sv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5.sv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4.sv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8.svg"/><Relationship Id="rId1" Type="http://schemas.openxmlformats.org/officeDocument/2006/relationships/slideLayout" Target="../slideLayouts/slideLayout7.xml"/><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8.sv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4.sv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8.sv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8.svg"/><Relationship Id="rId1" Type="http://schemas.openxmlformats.org/officeDocument/2006/relationships/slideLayout" Target="../slideLayouts/slideLayout7.xml"/><Relationship Id="rId4" Type="http://schemas.openxmlformats.org/officeDocument/2006/relationships/image" Target="../media/image14.png"/></Relationships>
</file>

<file path=ppt/slides/_rels/slide1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8.sv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8.sv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8.sv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8.sv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8.sv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19.jpeg"/></Relationships>
</file>

<file path=ppt/slides/_rels/slide21.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a:off x="10136592" y="281122"/>
            <a:ext cx="8306752" cy="10287000"/>
          </a:xfrm>
          <a:custGeom>
            <a:avLst/>
            <a:gdLst/>
            <a:ahLst/>
            <a:cxnLst/>
            <a:rect l="l" t="t" r="r" b="b"/>
            <a:pathLst>
              <a:path w="8306752" h="10287000">
                <a:moveTo>
                  <a:pt x="8306753" y="0"/>
                </a:moveTo>
                <a:lnTo>
                  <a:pt x="0" y="0"/>
                </a:lnTo>
                <a:lnTo>
                  <a:pt x="0" y="10287000"/>
                </a:lnTo>
                <a:lnTo>
                  <a:pt x="8306753" y="10287000"/>
                </a:lnTo>
                <a:lnTo>
                  <a:pt x="8306753" y="0"/>
                </a:lnTo>
                <a:close/>
              </a:path>
            </a:pathLst>
          </a:custGeom>
          <a:blipFill>
            <a:blip>
              <a:extLst>
                <a:ext uri="{96DAC541-7B7A-43D3-8B79-37D633B846F1}">
                  <asvg:svgBlip xmlns:asvg="http://schemas.microsoft.com/office/drawing/2016/SVG/main" r:embed="rId2"/>
                </a:ext>
              </a:extLst>
            </a:blip>
            <a:stretch>
              <a:fillRect/>
            </a:stretch>
          </a:blipFill>
        </p:spPr>
      </p:sp>
      <p:sp>
        <p:nvSpPr>
          <p:cNvPr id="3" name="Freeform 3"/>
          <p:cNvSpPr/>
          <p:nvPr/>
        </p:nvSpPr>
        <p:spPr>
          <a:xfrm>
            <a:off x="-2427043" y="-2352931"/>
            <a:ext cx="5917229" cy="5917229"/>
          </a:xfrm>
          <a:custGeom>
            <a:avLst/>
            <a:gdLst/>
            <a:ahLst/>
            <a:cxnLst/>
            <a:rect l="l" t="t" r="r" b="b"/>
            <a:pathLst>
              <a:path w="5917229" h="5917229">
                <a:moveTo>
                  <a:pt x="0" y="0"/>
                </a:moveTo>
                <a:lnTo>
                  <a:pt x="5917229" y="0"/>
                </a:lnTo>
                <a:lnTo>
                  <a:pt x="5917229" y="5917230"/>
                </a:lnTo>
                <a:lnTo>
                  <a:pt x="0" y="5917230"/>
                </a:lnTo>
                <a:lnTo>
                  <a:pt x="0" y="0"/>
                </a:lnTo>
                <a:close/>
              </a:path>
            </a:pathLst>
          </a:custGeom>
          <a:blipFill>
            <a:blip>
              <a:alphaModFix amt="59000"/>
              <a:extLst>
                <a:ext uri="{96DAC541-7B7A-43D3-8B79-37D633B846F1}">
                  <asvg:svgBlip xmlns:asvg="http://schemas.microsoft.com/office/drawing/2016/SVG/main" r:embed="rId3"/>
                </a:ext>
              </a:extLst>
            </a:blip>
            <a:stretch>
              <a:fillRect/>
            </a:stretch>
          </a:blipFill>
        </p:spPr>
      </p:sp>
      <p:grpSp>
        <p:nvGrpSpPr>
          <p:cNvPr id="4" name="Group 4"/>
          <p:cNvGrpSpPr/>
          <p:nvPr/>
        </p:nvGrpSpPr>
        <p:grpSpPr>
          <a:xfrm>
            <a:off x="867319" y="2013749"/>
            <a:ext cx="9049595" cy="1165894"/>
            <a:chOff x="0" y="0"/>
            <a:chExt cx="2383432" cy="307067"/>
          </a:xfrm>
        </p:grpSpPr>
        <p:sp>
          <p:nvSpPr>
            <p:cNvPr id="5" name="Freeform 5"/>
            <p:cNvSpPr/>
            <p:nvPr/>
          </p:nvSpPr>
          <p:spPr>
            <a:xfrm>
              <a:off x="0" y="0"/>
              <a:ext cx="2383432" cy="307067"/>
            </a:xfrm>
            <a:custGeom>
              <a:avLst/>
              <a:gdLst/>
              <a:ahLst/>
              <a:cxnLst/>
              <a:rect l="l" t="t" r="r" b="b"/>
              <a:pathLst>
                <a:path w="2383432" h="307067">
                  <a:moveTo>
                    <a:pt x="12832" y="0"/>
                  </a:moveTo>
                  <a:lnTo>
                    <a:pt x="2370600" y="0"/>
                  </a:lnTo>
                  <a:cubicBezTo>
                    <a:pt x="2377687" y="0"/>
                    <a:pt x="2383432" y="5745"/>
                    <a:pt x="2383432" y="12832"/>
                  </a:cubicBezTo>
                  <a:lnTo>
                    <a:pt x="2383432" y="294234"/>
                  </a:lnTo>
                  <a:cubicBezTo>
                    <a:pt x="2383432" y="297638"/>
                    <a:pt x="2382080" y="300902"/>
                    <a:pt x="2379674" y="303308"/>
                  </a:cubicBezTo>
                  <a:cubicBezTo>
                    <a:pt x="2377267" y="305715"/>
                    <a:pt x="2374003" y="307067"/>
                    <a:pt x="2370600" y="307067"/>
                  </a:cubicBezTo>
                  <a:lnTo>
                    <a:pt x="12832" y="307067"/>
                  </a:lnTo>
                  <a:cubicBezTo>
                    <a:pt x="9429" y="307067"/>
                    <a:pt x="6165" y="305715"/>
                    <a:pt x="3759" y="303308"/>
                  </a:cubicBezTo>
                  <a:cubicBezTo>
                    <a:pt x="1352" y="300902"/>
                    <a:pt x="0" y="297638"/>
                    <a:pt x="0" y="294234"/>
                  </a:cubicBezTo>
                  <a:lnTo>
                    <a:pt x="0" y="12832"/>
                  </a:lnTo>
                  <a:cubicBezTo>
                    <a:pt x="0" y="9429"/>
                    <a:pt x="1352" y="6165"/>
                    <a:pt x="3759" y="3759"/>
                  </a:cubicBezTo>
                  <a:cubicBezTo>
                    <a:pt x="6165" y="1352"/>
                    <a:pt x="9429" y="0"/>
                    <a:pt x="12832" y="0"/>
                  </a:cubicBezTo>
                  <a:close/>
                </a:path>
              </a:pathLst>
            </a:custGeom>
            <a:solidFill>
              <a:srgbClr val="023D63"/>
            </a:solidFill>
          </p:spPr>
        </p:sp>
        <p:sp>
          <p:nvSpPr>
            <p:cNvPr id="6" name="TextBox 6"/>
            <p:cNvSpPr txBox="1"/>
            <p:nvPr/>
          </p:nvSpPr>
          <p:spPr>
            <a:xfrm>
              <a:off x="0" y="-133350"/>
              <a:ext cx="2383432" cy="440417"/>
            </a:xfrm>
            <a:prstGeom prst="rect">
              <a:avLst/>
            </a:prstGeom>
          </p:spPr>
          <p:txBody>
            <a:bodyPr lIns="50800" tIns="50800" rIns="50800" bIns="50800" rtlCol="0" anchor="ctr"/>
            <a:lstStyle/>
            <a:p>
              <a:pPr algn="ctr">
                <a:lnSpc>
                  <a:spcPts val="7419"/>
                </a:lnSpc>
              </a:pPr>
              <a:r>
                <a:rPr lang="en-US" sz="5299" b="1">
                  <a:solidFill>
                    <a:srgbClr val="FFFFFF"/>
                  </a:solidFill>
                  <a:latin typeface="Arial Bold"/>
                  <a:ea typeface="Arial Bold"/>
                  <a:cs typeface="Arial Bold"/>
                  <a:sym typeface="Arial Bold"/>
                </a:rPr>
                <a:t>Lập trình hướng đối tượng</a:t>
              </a:r>
            </a:p>
          </p:txBody>
        </p:sp>
      </p:grpSp>
      <p:sp>
        <p:nvSpPr>
          <p:cNvPr id="7" name="Freeform 7"/>
          <p:cNvSpPr/>
          <p:nvPr/>
        </p:nvSpPr>
        <p:spPr>
          <a:xfrm>
            <a:off x="1734516" y="5143500"/>
            <a:ext cx="7315200" cy="131064"/>
          </a:xfrm>
          <a:custGeom>
            <a:avLst/>
            <a:gdLst/>
            <a:ahLst/>
            <a:cxnLst/>
            <a:rect l="l" t="t" r="r" b="b"/>
            <a:pathLst>
              <a:path w="7315200" h="131064">
                <a:moveTo>
                  <a:pt x="0" y="0"/>
                </a:moveTo>
                <a:lnTo>
                  <a:pt x="7315200" y="0"/>
                </a:lnTo>
                <a:lnTo>
                  <a:pt x="7315200" y="131064"/>
                </a:lnTo>
                <a:lnTo>
                  <a:pt x="0" y="131064"/>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8" name="Freeform 8"/>
          <p:cNvSpPr/>
          <p:nvPr/>
        </p:nvSpPr>
        <p:spPr>
          <a:xfrm>
            <a:off x="0" y="6972531"/>
            <a:ext cx="7918348" cy="4355091"/>
          </a:xfrm>
          <a:custGeom>
            <a:avLst/>
            <a:gdLst/>
            <a:ahLst/>
            <a:cxnLst/>
            <a:rect l="l" t="t" r="r" b="b"/>
            <a:pathLst>
              <a:path w="7918348" h="4355091">
                <a:moveTo>
                  <a:pt x="0" y="0"/>
                </a:moveTo>
                <a:lnTo>
                  <a:pt x="7918348" y="0"/>
                </a:lnTo>
                <a:lnTo>
                  <a:pt x="7918348" y="4355091"/>
                </a:lnTo>
                <a:lnTo>
                  <a:pt x="0" y="4355091"/>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9" name="Freeform 9"/>
          <p:cNvSpPr/>
          <p:nvPr/>
        </p:nvSpPr>
        <p:spPr>
          <a:xfrm>
            <a:off x="9144000" y="7447787"/>
            <a:ext cx="1545826" cy="1341004"/>
          </a:xfrm>
          <a:custGeom>
            <a:avLst/>
            <a:gdLst/>
            <a:ahLst/>
            <a:cxnLst/>
            <a:rect l="l" t="t" r="r" b="b"/>
            <a:pathLst>
              <a:path w="1545826" h="1341004">
                <a:moveTo>
                  <a:pt x="0" y="0"/>
                </a:moveTo>
                <a:lnTo>
                  <a:pt x="1545826" y="0"/>
                </a:lnTo>
                <a:lnTo>
                  <a:pt x="1545826" y="1341004"/>
                </a:lnTo>
                <a:lnTo>
                  <a:pt x="0" y="1341004"/>
                </a:lnTo>
                <a:lnTo>
                  <a:pt x="0" y="0"/>
                </a:lnTo>
                <a:close/>
              </a:path>
            </a:pathLst>
          </a:custGeom>
          <a:blipFill>
            <a:blip>
              <a:extLst>
                <a:ext uri="{96DAC541-7B7A-43D3-8B79-37D633B846F1}">
                  <asvg:svgBlip xmlns:asvg="http://schemas.microsoft.com/office/drawing/2016/SVG/main" r:embed="rId6"/>
                </a:ext>
              </a:extLst>
            </a:blip>
            <a:stretch>
              <a:fillRect/>
            </a:stretch>
          </a:blipFill>
        </p:spPr>
      </p:sp>
      <p:sp>
        <p:nvSpPr>
          <p:cNvPr id="10" name="Freeform 10"/>
          <p:cNvSpPr/>
          <p:nvPr/>
        </p:nvSpPr>
        <p:spPr>
          <a:xfrm>
            <a:off x="8740317" y="139130"/>
            <a:ext cx="1075628" cy="933107"/>
          </a:xfrm>
          <a:custGeom>
            <a:avLst/>
            <a:gdLst/>
            <a:ahLst/>
            <a:cxnLst/>
            <a:rect l="l" t="t" r="r" b="b"/>
            <a:pathLst>
              <a:path w="1075628" h="933107">
                <a:moveTo>
                  <a:pt x="0" y="0"/>
                </a:moveTo>
                <a:lnTo>
                  <a:pt x="1075628" y="0"/>
                </a:lnTo>
                <a:lnTo>
                  <a:pt x="1075628" y="933108"/>
                </a:lnTo>
                <a:lnTo>
                  <a:pt x="0" y="933108"/>
                </a:lnTo>
                <a:lnTo>
                  <a:pt x="0" y="0"/>
                </a:lnTo>
                <a:close/>
              </a:path>
            </a:pathLst>
          </a:custGeom>
          <a:blipFill>
            <a:blip>
              <a:extLst>
                <a:ext uri="{96DAC541-7B7A-43D3-8B79-37D633B846F1}">
                  <asvg:svgBlip xmlns:asvg="http://schemas.microsoft.com/office/drawing/2016/SVG/main" r:embed="rId7"/>
                </a:ext>
              </a:extLst>
            </a:blip>
            <a:stretch>
              <a:fillRect/>
            </a:stretch>
          </a:blipFill>
        </p:spPr>
      </p:sp>
      <p:grpSp>
        <p:nvGrpSpPr>
          <p:cNvPr id="11" name="Group 11"/>
          <p:cNvGrpSpPr/>
          <p:nvPr/>
        </p:nvGrpSpPr>
        <p:grpSpPr>
          <a:xfrm>
            <a:off x="11036470" y="605684"/>
            <a:ext cx="7735052" cy="6722733"/>
            <a:chOff x="0" y="0"/>
            <a:chExt cx="4763986" cy="4140503"/>
          </a:xfrm>
        </p:grpSpPr>
        <p:sp>
          <p:nvSpPr>
            <p:cNvPr id="12" name="Freeform 12"/>
            <p:cNvSpPr/>
            <p:nvPr/>
          </p:nvSpPr>
          <p:spPr>
            <a:xfrm>
              <a:off x="0" y="0"/>
              <a:ext cx="4763986" cy="4140503"/>
            </a:xfrm>
            <a:custGeom>
              <a:avLst/>
              <a:gdLst/>
              <a:ahLst/>
              <a:cxnLst/>
              <a:rect l="l" t="t" r="r" b="b"/>
              <a:pathLst>
                <a:path w="4763986" h="4140503">
                  <a:moveTo>
                    <a:pt x="3572989" y="0"/>
                  </a:moveTo>
                  <a:lnTo>
                    <a:pt x="1190996" y="0"/>
                  </a:lnTo>
                  <a:lnTo>
                    <a:pt x="0" y="2070251"/>
                  </a:lnTo>
                  <a:lnTo>
                    <a:pt x="1190996" y="4140503"/>
                  </a:lnTo>
                  <a:lnTo>
                    <a:pt x="3572990" y="4140503"/>
                  </a:lnTo>
                  <a:lnTo>
                    <a:pt x="4763986" y="2070251"/>
                  </a:lnTo>
                  <a:close/>
                </a:path>
              </a:pathLst>
            </a:custGeom>
            <a:blipFill>
              <a:blip r:embed="rId8"/>
              <a:stretch>
                <a:fillRect l="-27255" r="-27255"/>
              </a:stretch>
            </a:blipFill>
          </p:spPr>
        </p:sp>
      </p:grpSp>
      <p:sp>
        <p:nvSpPr>
          <p:cNvPr id="13" name="TextBox 13"/>
          <p:cNvSpPr txBox="1"/>
          <p:nvPr/>
        </p:nvSpPr>
        <p:spPr>
          <a:xfrm>
            <a:off x="203342" y="4143365"/>
            <a:ext cx="10833128" cy="667019"/>
          </a:xfrm>
          <a:prstGeom prst="rect">
            <a:avLst/>
          </a:prstGeom>
        </p:spPr>
        <p:txBody>
          <a:bodyPr lIns="0" tIns="0" rIns="0" bIns="0" rtlCol="0" anchor="t">
            <a:spAutoFit/>
          </a:bodyPr>
          <a:lstStyle/>
          <a:p>
            <a:pPr algn="ctr">
              <a:lnSpc>
                <a:spcPts val="5235"/>
              </a:lnSpc>
              <a:spcBef>
                <a:spcPct val="0"/>
              </a:spcBef>
            </a:pPr>
            <a:r>
              <a:rPr lang="en-US" sz="3739" b="1">
                <a:solidFill>
                  <a:srgbClr val="0F81CA"/>
                </a:solidFill>
                <a:latin typeface="Arial Bold"/>
                <a:ea typeface="Arial Bold"/>
                <a:cs typeface="Arial Bold"/>
                <a:sym typeface="Arial Bold"/>
              </a:rPr>
              <a:t>QUẢN LÝ DANH SÁCH DỰ ÁN PHẦN </a:t>
            </a:r>
          </a:p>
        </p:txBody>
      </p:sp>
      <p:sp>
        <p:nvSpPr>
          <p:cNvPr id="14" name="TextBox 14"/>
          <p:cNvSpPr txBox="1"/>
          <p:nvPr/>
        </p:nvSpPr>
        <p:spPr>
          <a:xfrm>
            <a:off x="0" y="3300031"/>
            <a:ext cx="10057881" cy="667019"/>
          </a:xfrm>
          <a:prstGeom prst="rect">
            <a:avLst/>
          </a:prstGeom>
        </p:spPr>
        <p:txBody>
          <a:bodyPr lIns="0" tIns="0" rIns="0" bIns="0" rtlCol="0" anchor="t">
            <a:spAutoFit/>
          </a:bodyPr>
          <a:lstStyle/>
          <a:p>
            <a:pPr algn="ctr">
              <a:lnSpc>
                <a:spcPts val="5235"/>
              </a:lnSpc>
              <a:spcBef>
                <a:spcPct val="0"/>
              </a:spcBef>
            </a:pPr>
            <a:r>
              <a:rPr lang="en-US" sz="3739" b="1">
                <a:solidFill>
                  <a:srgbClr val="0F81CA"/>
                </a:solidFill>
                <a:latin typeface="Arial Bold"/>
                <a:ea typeface="Arial Bold"/>
                <a:cs typeface="Arial Bold"/>
                <a:sym typeface="Arial Bold"/>
              </a:rPr>
              <a:t>CHỦ ĐỀ 18:</a:t>
            </a:r>
          </a:p>
        </p:txBody>
      </p:sp>
      <p:sp>
        <p:nvSpPr>
          <p:cNvPr id="15" name="TextBox 15"/>
          <p:cNvSpPr txBox="1"/>
          <p:nvPr/>
        </p:nvSpPr>
        <p:spPr>
          <a:xfrm>
            <a:off x="2588639" y="5797475"/>
            <a:ext cx="5606954" cy="566420"/>
          </a:xfrm>
          <a:prstGeom prst="rect">
            <a:avLst/>
          </a:prstGeom>
        </p:spPr>
        <p:txBody>
          <a:bodyPr lIns="0" tIns="0" rIns="0" bIns="0" rtlCol="0" anchor="t">
            <a:spAutoFit/>
          </a:bodyPr>
          <a:lstStyle/>
          <a:p>
            <a:pPr algn="ctr">
              <a:lnSpc>
                <a:spcPts val="4479"/>
              </a:lnSpc>
              <a:spcBef>
                <a:spcPct val="0"/>
              </a:spcBef>
            </a:pPr>
            <a:r>
              <a:rPr lang="en-US" sz="3199">
                <a:solidFill>
                  <a:srgbClr val="0F81CA"/>
                </a:solidFill>
                <a:latin typeface="Arial"/>
                <a:ea typeface="Arial"/>
                <a:cs typeface="Arial"/>
                <a:sym typeface="Arial"/>
              </a:rPr>
              <a:t>NHÓM TRÌNH BÀY: NHÓM 5</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3317264" y="0"/>
            <a:ext cx="7884073" cy="6775375"/>
            <a:chOff x="0" y="0"/>
            <a:chExt cx="812800" cy="698500"/>
          </a:xfrm>
        </p:grpSpPr>
        <p:sp>
          <p:nvSpPr>
            <p:cNvPr id="3" name="Freeform 3"/>
            <p:cNvSpPr/>
            <p:nvPr/>
          </p:nvSpPr>
          <p:spPr>
            <a:xfrm>
              <a:off x="0" y="0"/>
              <a:ext cx="812800" cy="698500"/>
            </a:xfrm>
            <a:custGeom>
              <a:avLst/>
              <a:gdLst/>
              <a:ahLst/>
              <a:cxnLst/>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solidFill>
              <a:srgbClr val="0F81CA"/>
            </a:solidFill>
          </p:spPr>
        </p:sp>
        <p:sp>
          <p:nvSpPr>
            <p:cNvPr id="4" name="TextBox 4"/>
            <p:cNvSpPr txBox="1"/>
            <p:nvPr/>
          </p:nvSpPr>
          <p:spPr>
            <a:xfrm>
              <a:off x="114300" y="-47625"/>
              <a:ext cx="584200" cy="746125"/>
            </a:xfrm>
            <a:prstGeom prst="rect">
              <a:avLst/>
            </a:prstGeom>
          </p:spPr>
          <p:txBody>
            <a:bodyPr lIns="50800" tIns="50800" rIns="50800" bIns="50800" rtlCol="0" anchor="ctr"/>
            <a:lstStyle/>
            <a:p>
              <a:pPr algn="ctr">
                <a:lnSpc>
                  <a:spcPts val="2659"/>
                </a:lnSpc>
                <a:spcBef>
                  <a:spcPct val="0"/>
                </a:spcBef>
              </a:pPr>
              <a:endParaRPr/>
            </a:p>
          </p:txBody>
        </p:sp>
      </p:grpSp>
      <p:sp>
        <p:nvSpPr>
          <p:cNvPr id="5" name="Freeform 5"/>
          <p:cNvSpPr/>
          <p:nvPr/>
        </p:nvSpPr>
        <p:spPr>
          <a:xfrm rot="-5400000">
            <a:off x="1462856" y="594544"/>
            <a:ext cx="762503" cy="1630815"/>
          </a:xfrm>
          <a:custGeom>
            <a:avLst/>
            <a:gdLst/>
            <a:ahLst/>
            <a:cxnLst/>
            <a:rect l="l" t="t" r="r" b="b"/>
            <a:pathLst>
              <a:path w="762503" h="1630815">
                <a:moveTo>
                  <a:pt x="0" y="0"/>
                </a:moveTo>
                <a:lnTo>
                  <a:pt x="762503" y="0"/>
                </a:lnTo>
                <a:lnTo>
                  <a:pt x="762503" y="1630815"/>
                </a:lnTo>
                <a:lnTo>
                  <a:pt x="0" y="1630815"/>
                </a:lnTo>
                <a:lnTo>
                  <a:pt x="0" y="0"/>
                </a:lnTo>
                <a:close/>
              </a:path>
            </a:pathLst>
          </a:custGeom>
          <a:blipFill>
            <a:blip>
              <a:extLst>
                <a:ext uri="{96DAC541-7B7A-43D3-8B79-37D633B846F1}">
                  <asvg:svgBlip xmlns:asvg="http://schemas.microsoft.com/office/drawing/2016/SVG/main" r:embed="rId2"/>
                </a:ext>
              </a:extLst>
            </a:blip>
            <a:stretch>
              <a:fillRect b="-23452"/>
            </a:stretch>
          </a:blipFill>
        </p:spPr>
      </p:sp>
      <p:sp>
        <p:nvSpPr>
          <p:cNvPr id="6" name="TextBox 6"/>
          <p:cNvSpPr txBox="1"/>
          <p:nvPr/>
        </p:nvSpPr>
        <p:spPr>
          <a:xfrm>
            <a:off x="1663023" y="2248469"/>
            <a:ext cx="13030488" cy="6315075"/>
          </a:xfrm>
          <a:prstGeom prst="rect">
            <a:avLst/>
          </a:prstGeom>
        </p:spPr>
        <p:txBody>
          <a:bodyPr lIns="0" tIns="0" rIns="0" bIns="0" rtlCol="0" anchor="t">
            <a:spAutoFit/>
          </a:bodyPr>
          <a:lstStyle/>
          <a:p>
            <a:pPr algn="just">
              <a:lnSpc>
                <a:spcPts val="6299"/>
              </a:lnSpc>
            </a:pPr>
            <a:r>
              <a:rPr lang="en-US" sz="4499">
                <a:solidFill>
                  <a:srgbClr val="000000"/>
                </a:solidFill>
                <a:latin typeface="Arial"/>
                <a:ea typeface="Arial"/>
                <a:cs typeface="Arial"/>
                <a:sym typeface="Arial"/>
              </a:rPr>
              <a:t>1.MỤC ĐÍCH ĐỀ TÀI</a:t>
            </a:r>
          </a:p>
          <a:p>
            <a:pPr algn="just">
              <a:lnSpc>
                <a:spcPts val="6299"/>
              </a:lnSpc>
            </a:pPr>
            <a:r>
              <a:rPr lang="en-US" sz="4499">
                <a:solidFill>
                  <a:srgbClr val="000000"/>
                </a:solidFill>
                <a:latin typeface="Arial"/>
                <a:ea typeface="Arial"/>
                <a:cs typeface="Arial"/>
                <a:sym typeface="Arial"/>
              </a:rPr>
              <a:t>2.CƠ SỞ LÝ THUYẾT</a:t>
            </a:r>
          </a:p>
          <a:p>
            <a:pPr algn="just">
              <a:lnSpc>
                <a:spcPts val="6299"/>
              </a:lnSpc>
            </a:pPr>
            <a:r>
              <a:rPr lang="en-US" sz="4499">
                <a:solidFill>
                  <a:srgbClr val="000000"/>
                </a:solidFill>
                <a:latin typeface="Arial"/>
                <a:ea typeface="Arial"/>
                <a:cs typeface="Arial"/>
                <a:sym typeface="Arial"/>
              </a:rPr>
              <a:t>3. PHÂN TÍCH BÀI TOÁN</a:t>
            </a:r>
          </a:p>
          <a:p>
            <a:pPr algn="just">
              <a:lnSpc>
                <a:spcPts val="6299"/>
              </a:lnSpc>
            </a:pPr>
            <a:r>
              <a:rPr lang="en-US" sz="4499">
                <a:solidFill>
                  <a:srgbClr val="000000"/>
                </a:solidFill>
                <a:latin typeface="Arial"/>
                <a:ea typeface="Arial"/>
                <a:cs typeface="Arial"/>
                <a:sym typeface="Arial"/>
              </a:rPr>
              <a:t>4. THIẾT KẾ LỚP ĐỐI TƯỢNG</a:t>
            </a:r>
          </a:p>
          <a:p>
            <a:pPr algn="just">
              <a:lnSpc>
                <a:spcPts val="6299"/>
              </a:lnSpc>
            </a:pPr>
            <a:r>
              <a:rPr lang="en-US" sz="4499">
                <a:solidFill>
                  <a:srgbClr val="000000"/>
                </a:solidFill>
                <a:latin typeface="Arial"/>
                <a:ea typeface="Arial"/>
                <a:cs typeface="Arial"/>
                <a:sym typeface="Arial"/>
              </a:rPr>
              <a:t>5. CÁC CHỨC NĂNG CỦA CHƯƠNG TRÌNH</a:t>
            </a:r>
          </a:p>
          <a:p>
            <a:pPr algn="just">
              <a:lnSpc>
                <a:spcPts val="6299"/>
              </a:lnSpc>
            </a:pPr>
            <a:r>
              <a:rPr lang="en-US" sz="4499">
                <a:solidFill>
                  <a:srgbClr val="000000"/>
                </a:solidFill>
                <a:latin typeface="Arial"/>
                <a:ea typeface="Arial"/>
                <a:cs typeface="Arial"/>
                <a:sym typeface="Arial"/>
              </a:rPr>
              <a:t>6. PHÂN TÍCH THUẬT TOÁN</a:t>
            </a:r>
          </a:p>
          <a:p>
            <a:pPr algn="just">
              <a:lnSpc>
                <a:spcPts val="6299"/>
              </a:lnSpc>
            </a:pPr>
            <a:r>
              <a:rPr lang="en-US" sz="4499">
                <a:solidFill>
                  <a:srgbClr val="000000"/>
                </a:solidFill>
                <a:latin typeface="Arial"/>
                <a:ea typeface="Arial"/>
                <a:cs typeface="Arial"/>
                <a:sym typeface="Arial"/>
              </a:rPr>
              <a:t>7. GIAO DIỆN CHƯƠNG TRÌNH</a:t>
            </a:r>
          </a:p>
          <a:p>
            <a:pPr algn="just">
              <a:lnSpc>
                <a:spcPts val="6299"/>
              </a:lnSpc>
              <a:spcBef>
                <a:spcPct val="0"/>
              </a:spcBef>
            </a:pPr>
            <a:r>
              <a:rPr lang="en-US" sz="4499">
                <a:solidFill>
                  <a:srgbClr val="000000"/>
                </a:solidFill>
                <a:latin typeface="Arial"/>
                <a:ea typeface="Arial"/>
                <a:cs typeface="Arial"/>
                <a:sym typeface="Arial"/>
              </a:rPr>
              <a:t>8. DEMO CHƯƠNG TRÌNH</a:t>
            </a:r>
          </a:p>
        </p:txBody>
      </p:sp>
      <p:sp>
        <p:nvSpPr>
          <p:cNvPr id="7" name="TextBox 7"/>
          <p:cNvSpPr txBox="1"/>
          <p:nvPr/>
        </p:nvSpPr>
        <p:spPr>
          <a:xfrm>
            <a:off x="3833575" y="594677"/>
            <a:ext cx="8689384" cy="896620"/>
          </a:xfrm>
          <a:prstGeom prst="rect">
            <a:avLst/>
          </a:prstGeom>
        </p:spPr>
        <p:txBody>
          <a:bodyPr lIns="0" tIns="0" rIns="0" bIns="0" rtlCol="0" anchor="t">
            <a:spAutoFit/>
          </a:bodyPr>
          <a:lstStyle/>
          <a:p>
            <a:pPr marL="0" lvl="0" indent="0" algn="l">
              <a:lnSpc>
                <a:spcPts val="6710"/>
              </a:lnSpc>
            </a:pPr>
            <a:r>
              <a:rPr lang="en-US" sz="6100" b="1">
                <a:solidFill>
                  <a:srgbClr val="000000"/>
                </a:solidFill>
                <a:latin typeface="Arial Bold"/>
                <a:ea typeface="Arial Bold"/>
                <a:cs typeface="Arial Bold"/>
                <a:sym typeface="Arial Bold"/>
              </a:rPr>
              <a:t>NỘI DUNG TRÌNH BÀY</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028700" y="1755473"/>
            <a:ext cx="15197737" cy="6188076"/>
          </a:xfrm>
          <a:prstGeom prst="rect">
            <a:avLst/>
          </a:prstGeom>
        </p:spPr>
        <p:txBody>
          <a:bodyPr lIns="0" tIns="0" rIns="0" bIns="0" rtlCol="0" anchor="t">
            <a:spAutoFit/>
          </a:bodyPr>
          <a:lstStyle/>
          <a:p>
            <a:pPr marL="755646" lvl="1" indent="-377823" algn="l">
              <a:lnSpc>
                <a:spcPts val="4899"/>
              </a:lnSpc>
              <a:buFont typeface="Arial"/>
              <a:buChar char="•"/>
            </a:pPr>
            <a:r>
              <a:rPr lang="en-US" sz="3499">
                <a:solidFill>
                  <a:srgbClr val="000000"/>
                </a:solidFill>
                <a:latin typeface="Arial"/>
                <a:ea typeface="Arial"/>
                <a:cs typeface="Arial"/>
                <a:sym typeface="Arial"/>
              </a:rPr>
              <a:t>Xây dựng chương trình quản lý danh sách các dự án phần mềm.</a:t>
            </a:r>
          </a:p>
          <a:p>
            <a:pPr marL="755646" lvl="1" indent="-377823" algn="l">
              <a:lnSpc>
                <a:spcPts val="4899"/>
              </a:lnSpc>
              <a:buFont typeface="Arial"/>
              <a:buChar char="•"/>
            </a:pPr>
            <a:r>
              <a:rPr lang="en-US" sz="3499">
                <a:solidFill>
                  <a:srgbClr val="000000"/>
                </a:solidFill>
                <a:latin typeface="Arial"/>
                <a:ea typeface="Arial"/>
                <a:cs typeface="Arial"/>
                <a:sym typeface="Arial"/>
              </a:rPr>
              <a:t>Vận dụng kiến thức lập trình hướng đối tượng.</a:t>
            </a:r>
          </a:p>
          <a:p>
            <a:pPr marL="755646" lvl="1" indent="-377823" algn="l">
              <a:lnSpc>
                <a:spcPts val="4899"/>
              </a:lnSpc>
              <a:buFont typeface="Arial"/>
              <a:buChar char="•"/>
            </a:pPr>
            <a:r>
              <a:rPr lang="en-US" sz="3499">
                <a:solidFill>
                  <a:srgbClr val="000000"/>
                </a:solidFill>
                <a:latin typeface="Arial"/>
                <a:ea typeface="Arial"/>
                <a:cs typeface="Arial"/>
                <a:sym typeface="Arial"/>
              </a:rPr>
              <a:t>Quản lý thông tin dự án một cách khoa học.</a:t>
            </a:r>
          </a:p>
          <a:p>
            <a:pPr marL="755646" lvl="1" indent="-377823" algn="l">
              <a:lnSpc>
                <a:spcPts val="4899"/>
              </a:lnSpc>
              <a:buFont typeface="Arial"/>
              <a:buChar char="•"/>
            </a:pPr>
            <a:r>
              <a:rPr lang="en-US" sz="3499">
                <a:solidFill>
                  <a:srgbClr val="000000"/>
                </a:solidFill>
                <a:latin typeface="Arial"/>
                <a:ea typeface="Arial"/>
                <a:cs typeface="Arial"/>
                <a:sym typeface="Arial"/>
              </a:rPr>
              <a:t>Thực hiện các thao tác trên danh sách đối tượng.</a:t>
            </a:r>
          </a:p>
          <a:p>
            <a:pPr marL="755646" lvl="1" indent="-377823" algn="l">
              <a:lnSpc>
                <a:spcPts val="4899"/>
              </a:lnSpc>
              <a:buFont typeface="Arial"/>
              <a:buChar char="•"/>
            </a:pPr>
            <a:r>
              <a:rPr lang="en-US" sz="3499">
                <a:solidFill>
                  <a:srgbClr val="000000"/>
                </a:solidFill>
                <a:latin typeface="Arial"/>
                <a:ea typeface="Arial"/>
                <a:cs typeface="Arial"/>
                <a:sym typeface="Arial"/>
              </a:rPr>
              <a:t>Rèn luyện kỹ năng xây dựng và tổ chức chương trình.</a:t>
            </a:r>
          </a:p>
          <a:p>
            <a:pPr algn="l">
              <a:lnSpc>
                <a:spcPts val="4899"/>
              </a:lnSpc>
            </a:pPr>
            <a:endParaRPr lang="en-US" sz="3499">
              <a:solidFill>
                <a:srgbClr val="000000"/>
              </a:solidFill>
              <a:latin typeface="Arial"/>
              <a:ea typeface="Arial"/>
              <a:cs typeface="Arial"/>
              <a:sym typeface="Arial"/>
            </a:endParaRPr>
          </a:p>
          <a:p>
            <a:pPr algn="l">
              <a:lnSpc>
                <a:spcPts val="4899"/>
              </a:lnSpc>
            </a:pPr>
            <a:r>
              <a:rPr lang="en-US" sz="3499">
                <a:solidFill>
                  <a:srgbClr val="000000"/>
                </a:solidFill>
                <a:latin typeface="Arial"/>
                <a:ea typeface="Arial"/>
                <a:cs typeface="Arial"/>
                <a:sym typeface="Arial"/>
              </a:rPr>
              <a:t> </a:t>
            </a:r>
          </a:p>
          <a:p>
            <a:pPr algn="l">
              <a:lnSpc>
                <a:spcPts val="4899"/>
              </a:lnSpc>
            </a:pPr>
            <a:endParaRPr lang="en-US" sz="3499">
              <a:solidFill>
                <a:srgbClr val="000000"/>
              </a:solidFill>
              <a:latin typeface="Arial"/>
              <a:ea typeface="Arial"/>
              <a:cs typeface="Arial"/>
              <a:sym typeface="Arial"/>
            </a:endParaRPr>
          </a:p>
          <a:p>
            <a:pPr algn="l">
              <a:lnSpc>
                <a:spcPts val="4899"/>
              </a:lnSpc>
            </a:pPr>
            <a:endParaRPr lang="en-US" sz="3499">
              <a:solidFill>
                <a:srgbClr val="000000"/>
              </a:solidFill>
              <a:latin typeface="Arial"/>
              <a:ea typeface="Arial"/>
              <a:cs typeface="Arial"/>
              <a:sym typeface="Arial"/>
            </a:endParaRPr>
          </a:p>
          <a:p>
            <a:pPr marL="0" lvl="0" indent="0" algn="l">
              <a:lnSpc>
                <a:spcPts val="4899"/>
              </a:lnSpc>
              <a:spcBef>
                <a:spcPct val="0"/>
              </a:spcBef>
            </a:pPr>
            <a:endParaRPr lang="en-US" sz="3499">
              <a:solidFill>
                <a:srgbClr val="000000"/>
              </a:solidFill>
              <a:latin typeface="Arial"/>
              <a:ea typeface="Arial"/>
              <a:cs typeface="Arial"/>
              <a:sym typeface="Arial"/>
            </a:endParaRPr>
          </a:p>
        </p:txBody>
      </p:sp>
      <p:sp>
        <p:nvSpPr>
          <p:cNvPr id="3" name="Freeform 3"/>
          <p:cNvSpPr/>
          <p:nvPr/>
        </p:nvSpPr>
        <p:spPr>
          <a:xfrm>
            <a:off x="17259300" y="280409"/>
            <a:ext cx="1545826" cy="1341004"/>
          </a:xfrm>
          <a:custGeom>
            <a:avLst/>
            <a:gdLst/>
            <a:ahLst/>
            <a:cxnLst/>
            <a:rect l="l" t="t" r="r" b="b"/>
            <a:pathLst>
              <a:path w="1545826" h="1341004">
                <a:moveTo>
                  <a:pt x="0" y="0"/>
                </a:moveTo>
                <a:lnTo>
                  <a:pt x="1545826" y="0"/>
                </a:lnTo>
                <a:lnTo>
                  <a:pt x="1545826" y="1341005"/>
                </a:lnTo>
                <a:lnTo>
                  <a:pt x="0" y="1341005"/>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4" name="Freeform 4"/>
          <p:cNvSpPr/>
          <p:nvPr/>
        </p:nvSpPr>
        <p:spPr>
          <a:xfrm>
            <a:off x="1357501" y="5378941"/>
            <a:ext cx="13184393" cy="4908059"/>
          </a:xfrm>
          <a:custGeom>
            <a:avLst/>
            <a:gdLst/>
            <a:ahLst/>
            <a:cxnLst/>
            <a:rect l="l" t="t" r="r" b="b"/>
            <a:pathLst>
              <a:path w="13184393" h="4908059">
                <a:moveTo>
                  <a:pt x="0" y="0"/>
                </a:moveTo>
                <a:lnTo>
                  <a:pt x="13184393" y="0"/>
                </a:lnTo>
                <a:lnTo>
                  <a:pt x="13184393" y="4908059"/>
                </a:lnTo>
                <a:lnTo>
                  <a:pt x="0" y="4908059"/>
                </a:lnTo>
                <a:lnTo>
                  <a:pt x="0" y="0"/>
                </a:lnTo>
                <a:close/>
              </a:path>
            </a:pathLst>
          </a:custGeom>
          <a:blipFill>
            <a:blip r:embed="rId3"/>
            <a:stretch>
              <a:fillRect/>
            </a:stretch>
          </a:blipFill>
        </p:spPr>
      </p:sp>
      <p:sp>
        <p:nvSpPr>
          <p:cNvPr id="5" name="TextBox 5"/>
          <p:cNvSpPr txBox="1"/>
          <p:nvPr/>
        </p:nvSpPr>
        <p:spPr>
          <a:xfrm>
            <a:off x="1357501" y="590549"/>
            <a:ext cx="9740777" cy="739776"/>
          </a:xfrm>
          <a:prstGeom prst="rect">
            <a:avLst/>
          </a:prstGeom>
        </p:spPr>
        <p:txBody>
          <a:bodyPr lIns="0" tIns="0" rIns="0" bIns="0" rtlCol="0" anchor="t">
            <a:spAutoFit/>
          </a:bodyPr>
          <a:lstStyle/>
          <a:p>
            <a:pPr marL="0" lvl="0" indent="0" algn="l">
              <a:lnSpc>
                <a:spcPts val="5500"/>
              </a:lnSpc>
            </a:pPr>
            <a:r>
              <a:rPr lang="en-US" sz="5000" b="1">
                <a:solidFill>
                  <a:srgbClr val="000000"/>
                </a:solidFill>
                <a:latin typeface="Arial Bold"/>
                <a:ea typeface="Arial Bold"/>
                <a:cs typeface="Arial Bold"/>
                <a:sym typeface="Arial Bold"/>
              </a:rPr>
              <a:t>1. Mục đích đề tài</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0392491" y="4899564"/>
            <a:ext cx="7748865" cy="4358736"/>
          </a:xfrm>
          <a:custGeom>
            <a:avLst/>
            <a:gdLst/>
            <a:ahLst/>
            <a:cxnLst/>
            <a:rect l="l" t="t" r="r" b="b"/>
            <a:pathLst>
              <a:path w="7748865" h="4358736">
                <a:moveTo>
                  <a:pt x="0" y="0"/>
                </a:moveTo>
                <a:lnTo>
                  <a:pt x="7748865" y="0"/>
                </a:lnTo>
                <a:lnTo>
                  <a:pt x="7748865" y="4358736"/>
                </a:lnTo>
                <a:lnTo>
                  <a:pt x="0" y="4358736"/>
                </a:lnTo>
                <a:lnTo>
                  <a:pt x="0" y="0"/>
                </a:lnTo>
                <a:close/>
              </a:path>
            </a:pathLst>
          </a:custGeom>
          <a:blipFill>
            <a:blip r:embed="rId2"/>
            <a:stretch>
              <a:fillRect l="-26" r="-26"/>
            </a:stretch>
          </a:blipFill>
        </p:spPr>
      </p:sp>
      <p:sp>
        <p:nvSpPr>
          <p:cNvPr id="3" name="TextBox 3"/>
          <p:cNvSpPr txBox="1"/>
          <p:nvPr/>
        </p:nvSpPr>
        <p:spPr>
          <a:xfrm>
            <a:off x="784439" y="551503"/>
            <a:ext cx="16719121" cy="840093"/>
          </a:xfrm>
          <a:prstGeom prst="rect">
            <a:avLst/>
          </a:prstGeom>
        </p:spPr>
        <p:txBody>
          <a:bodyPr lIns="0" tIns="0" rIns="0" bIns="0" rtlCol="0" anchor="t">
            <a:spAutoFit/>
          </a:bodyPr>
          <a:lstStyle/>
          <a:p>
            <a:pPr algn="just">
              <a:lnSpc>
                <a:spcPts val="6720"/>
              </a:lnSpc>
              <a:spcBef>
                <a:spcPct val="0"/>
              </a:spcBef>
            </a:pPr>
            <a:r>
              <a:rPr lang="en-US" sz="4800" b="1">
                <a:solidFill>
                  <a:srgbClr val="000000"/>
                </a:solidFill>
                <a:latin typeface="Arial Bold"/>
                <a:ea typeface="Arial Bold"/>
                <a:cs typeface="Arial Bold"/>
                <a:sym typeface="Arial Bold"/>
              </a:rPr>
              <a:t>2. Cơ sở lý thuyết</a:t>
            </a:r>
          </a:p>
        </p:txBody>
      </p:sp>
      <p:sp>
        <p:nvSpPr>
          <p:cNvPr id="4" name="TextBox 4"/>
          <p:cNvSpPr txBox="1"/>
          <p:nvPr/>
        </p:nvSpPr>
        <p:spPr>
          <a:xfrm>
            <a:off x="575111" y="1543807"/>
            <a:ext cx="17459452" cy="4302125"/>
          </a:xfrm>
          <a:prstGeom prst="rect">
            <a:avLst/>
          </a:prstGeom>
        </p:spPr>
        <p:txBody>
          <a:bodyPr lIns="0" tIns="0" rIns="0" bIns="0" rtlCol="0" anchor="t">
            <a:spAutoFit/>
          </a:bodyPr>
          <a:lstStyle/>
          <a:p>
            <a:pPr algn="just">
              <a:lnSpc>
                <a:spcPts val="4899"/>
              </a:lnSpc>
            </a:pPr>
            <a:r>
              <a:rPr lang="en-US" sz="3499" b="1">
                <a:solidFill>
                  <a:srgbClr val="000000"/>
                </a:solidFill>
                <a:latin typeface="Noto Sans Bold"/>
                <a:ea typeface="Noto Sans Bold"/>
                <a:cs typeface="Noto Sans Bold"/>
                <a:sym typeface="Noto Sans Bold"/>
              </a:rPr>
              <a:t>Lập trình hướng đối tượng (OPP)</a:t>
            </a:r>
            <a:r>
              <a:rPr lang="en-US" sz="3499">
                <a:solidFill>
                  <a:srgbClr val="000000"/>
                </a:solidFill>
                <a:latin typeface="Noto Sans"/>
                <a:ea typeface="Noto Sans"/>
                <a:cs typeface="Noto Sans"/>
                <a:sym typeface="Noto Sans"/>
              </a:rPr>
              <a:t> là một phương pháp lập trình dựa trên khái niệm cốt lõi là các "đối tượng" (Objects).OOP chia nhỏ bài toán thành các thực thể độc lập. Mỗi thực thể này sẽ bao hàm cả dữ liệu (đặc điểm) và các hành vi (chức năng) liên quan mật thiết với nhau, giúp việc mô phỏng các bài toán trong thế giới thực vào phần mềm trở nên trực quan và logic hơn.</a:t>
            </a:r>
          </a:p>
          <a:p>
            <a:pPr algn="just">
              <a:lnSpc>
                <a:spcPts val="4899"/>
              </a:lnSpc>
            </a:pPr>
            <a:endParaRPr lang="en-US" sz="3499">
              <a:solidFill>
                <a:srgbClr val="000000"/>
              </a:solidFill>
              <a:latin typeface="Noto Sans"/>
              <a:ea typeface="Noto Sans"/>
              <a:cs typeface="Noto Sans"/>
              <a:sym typeface="Noto Sans"/>
            </a:endParaRPr>
          </a:p>
          <a:p>
            <a:pPr algn="just">
              <a:lnSpc>
                <a:spcPts val="4899"/>
              </a:lnSpc>
            </a:pPr>
            <a:endParaRPr lang="en-US" sz="3499">
              <a:solidFill>
                <a:srgbClr val="000000"/>
              </a:solidFill>
              <a:latin typeface="Noto Sans"/>
              <a:ea typeface="Noto Sans"/>
              <a:cs typeface="Noto Sans"/>
              <a:sym typeface="Noto Sans"/>
            </a:endParaRPr>
          </a:p>
        </p:txBody>
      </p:sp>
      <p:sp>
        <p:nvSpPr>
          <p:cNvPr id="5" name="TextBox 5"/>
          <p:cNvSpPr txBox="1"/>
          <p:nvPr/>
        </p:nvSpPr>
        <p:spPr>
          <a:xfrm>
            <a:off x="575111" y="4832889"/>
            <a:ext cx="9705520" cy="5212080"/>
          </a:xfrm>
          <a:prstGeom prst="rect">
            <a:avLst/>
          </a:prstGeom>
        </p:spPr>
        <p:txBody>
          <a:bodyPr lIns="0" tIns="0" rIns="0" bIns="0" rtlCol="0" anchor="t">
            <a:spAutoFit/>
          </a:bodyPr>
          <a:lstStyle/>
          <a:p>
            <a:pPr algn="l">
              <a:lnSpc>
                <a:spcPts val="4619"/>
              </a:lnSpc>
              <a:spcBef>
                <a:spcPct val="0"/>
              </a:spcBef>
            </a:pPr>
            <a:r>
              <a:rPr lang="en-US" sz="3299" b="1">
                <a:solidFill>
                  <a:srgbClr val="000000"/>
                </a:solidFill>
                <a:latin typeface="Noto Sans Bold"/>
                <a:ea typeface="Noto Sans Bold"/>
                <a:cs typeface="Noto Sans Bold"/>
                <a:sym typeface="Noto Sans Bold"/>
              </a:rPr>
              <a:t>Các đặc điểm chính:</a:t>
            </a:r>
          </a:p>
          <a:p>
            <a:pPr algn="l">
              <a:lnSpc>
                <a:spcPts val="4619"/>
              </a:lnSpc>
              <a:spcBef>
                <a:spcPct val="0"/>
              </a:spcBef>
            </a:pPr>
            <a:r>
              <a:rPr lang="en-US" sz="3299">
                <a:solidFill>
                  <a:srgbClr val="000000"/>
                </a:solidFill>
                <a:latin typeface="Noto Sans"/>
                <a:ea typeface="Noto Sans"/>
                <a:cs typeface="Noto Sans"/>
                <a:sym typeface="Noto Sans"/>
              </a:rPr>
              <a:t>Đóng gói: bảo vệ và quản lý dữ liệu (được sử dụng trong bài)</a:t>
            </a:r>
          </a:p>
          <a:p>
            <a:pPr algn="l">
              <a:lnSpc>
                <a:spcPts val="4619"/>
              </a:lnSpc>
              <a:spcBef>
                <a:spcPct val="0"/>
              </a:spcBef>
            </a:pPr>
            <a:r>
              <a:rPr lang="en-US" sz="3299">
                <a:solidFill>
                  <a:srgbClr val="000000"/>
                </a:solidFill>
                <a:latin typeface="Noto Sans"/>
                <a:ea typeface="Noto Sans"/>
                <a:cs typeface="Noto Sans"/>
                <a:sym typeface="Noto Sans"/>
              </a:rPr>
              <a:t>Kế thừa: sử dụng lại các thuộc tính, phương thức.</a:t>
            </a:r>
          </a:p>
          <a:p>
            <a:pPr algn="l">
              <a:lnSpc>
                <a:spcPts val="4619"/>
              </a:lnSpc>
              <a:spcBef>
                <a:spcPct val="0"/>
              </a:spcBef>
            </a:pPr>
            <a:r>
              <a:rPr lang="en-US" sz="3299">
                <a:solidFill>
                  <a:srgbClr val="000000"/>
                </a:solidFill>
                <a:latin typeface="Noto Sans"/>
                <a:ea typeface="Noto Sans"/>
                <a:cs typeface="Noto Sans"/>
                <a:sym typeface="Noto Sans"/>
              </a:rPr>
              <a:t>Đa hình: một phương thức có thể có nhiều cách thực hiện.</a:t>
            </a:r>
          </a:p>
          <a:p>
            <a:pPr algn="l">
              <a:lnSpc>
                <a:spcPts val="4619"/>
              </a:lnSpc>
              <a:spcBef>
                <a:spcPct val="0"/>
              </a:spcBef>
            </a:pPr>
            <a:r>
              <a:rPr lang="en-US" sz="3299">
                <a:solidFill>
                  <a:srgbClr val="000000"/>
                </a:solidFill>
                <a:latin typeface="Noto Sans"/>
                <a:ea typeface="Noto Sans"/>
                <a:cs typeface="Noto Sans"/>
                <a:sym typeface="Noto Sans"/>
              </a:rPr>
              <a:t>Trừu tượng: tập trung vào những đặc điểm quan trọng của đối tượng.</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4989509" y="2582256"/>
            <a:ext cx="5425311" cy="8003350"/>
            <a:chOff x="0" y="0"/>
            <a:chExt cx="7233748" cy="10671133"/>
          </a:xfrm>
        </p:grpSpPr>
        <p:grpSp>
          <p:nvGrpSpPr>
            <p:cNvPr id="3" name="Group 3"/>
            <p:cNvGrpSpPr/>
            <p:nvPr/>
          </p:nvGrpSpPr>
          <p:grpSpPr>
            <a:xfrm>
              <a:off x="0" y="0"/>
              <a:ext cx="7233748" cy="9244981"/>
              <a:chOff x="0" y="0"/>
              <a:chExt cx="546542" cy="698500"/>
            </a:xfrm>
          </p:grpSpPr>
          <p:sp>
            <p:nvSpPr>
              <p:cNvPr id="4" name="Freeform 4"/>
              <p:cNvSpPr/>
              <p:nvPr/>
            </p:nvSpPr>
            <p:spPr>
              <a:xfrm>
                <a:off x="0" y="0"/>
                <a:ext cx="546542" cy="698500"/>
              </a:xfrm>
              <a:custGeom>
                <a:avLst/>
                <a:gdLst/>
                <a:ahLst/>
                <a:cxnLst/>
                <a:rect l="l" t="t" r="r" b="b"/>
                <a:pathLst>
                  <a:path w="546542" h="698500">
                    <a:moveTo>
                      <a:pt x="546542" y="349250"/>
                    </a:moveTo>
                    <a:lnTo>
                      <a:pt x="343342" y="698500"/>
                    </a:lnTo>
                    <a:lnTo>
                      <a:pt x="203200" y="698500"/>
                    </a:lnTo>
                    <a:lnTo>
                      <a:pt x="0" y="349250"/>
                    </a:lnTo>
                    <a:lnTo>
                      <a:pt x="203200" y="0"/>
                    </a:lnTo>
                    <a:lnTo>
                      <a:pt x="343342" y="0"/>
                    </a:lnTo>
                    <a:lnTo>
                      <a:pt x="546542" y="349250"/>
                    </a:lnTo>
                    <a:close/>
                  </a:path>
                </a:pathLst>
              </a:custGeom>
              <a:solidFill>
                <a:srgbClr val="AEE4E9"/>
              </a:solidFill>
            </p:spPr>
          </p:sp>
          <p:sp>
            <p:nvSpPr>
              <p:cNvPr id="5" name="TextBox 5"/>
              <p:cNvSpPr txBox="1"/>
              <p:nvPr/>
            </p:nvSpPr>
            <p:spPr>
              <a:xfrm>
                <a:off x="114300" y="-38100"/>
                <a:ext cx="317942" cy="736600"/>
              </a:xfrm>
              <a:prstGeom prst="rect">
                <a:avLst/>
              </a:prstGeom>
            </p:spPr>
            <p:txBody>
              <a:bodyPr lIns="50800" tIns="50800" rIns="50800" bIns="50800" rtlCol="0" anchor="ctr"/>
              <a:lstStyle/>
              <a:p>
                <a:pPr algn="ctr">
                  <a:lnSpc>
                    <a:spcPts val="2659"/>
                  </a:lnSpc>
                  <a:spcBef>
                    <a:spcPct val="0"/>
                  </a:spcBef>
                </a:pPr>
                <a:endParaRPr/>
              </a:p>
            </p:txBody>
          </p:sp>
        </p:grpSp>
        <p:grpSp>
          <p:nvGrpSpPr>
            <p:cNvPr id="6" name="Group 6"/>
            <p:cNvGrpSpPr/>
            <p:nvPr/>
          </p:nvGrpSpPr>
          <p:grpSpPr>
            <a:xfrm>
              <a:off x="213590" y="2775365"/>
              <a:ext cx="6178055" cy="7895768"/>
              <a:chOff x="0" y="0"/>
              <a:chExt cx="546542" cy="698500"/>
            </a:xfrm>
          </p:grpSpPr>
          <p:sp>
            <p:nvSpPr>
              <p:cNvPr id="7" name="Freeform 7"/>
              <p:cNvSpPr/>
              <p:nvPr/>
            </p:nvSpPr>
            <p:spPr>
              <a:xfrm>
                <a:off x="0" y="0"/>
                <a:ext cx="546542" cy="698500"/>
              </a:xfrm>
              <a:custGeom>
                <a:avLst/>
                <a:gdLst/>
                <a:ahLst/>
                <a:cxnLst/>
                <a:rect l="l" t="t" r="r" b="b"/>
                <a:pathLst>
                  <a:path w="546542" h="698500">
                    <a:moveTo>
                      <a:pt x="546542" y="349250"/>
                    </a:moveTo>
                    <a:lnTo>
                      <a:pt x="343342" y="698500"/>
                    </a:lnTo>
                    <a:lnTo>
                      <a:pt x="203200" y="698500"/>
                    </a:lnTo>
                    <a:lnTo>
                      <a:pt x="0" y="349250"/>
                    </a:lnTo>
                    <a:lnTo>
                      <a:pt x="203200" y="0"/>
                    </a:lnTo>
                    <a:lnTo>
                      <a:pt x="343342" y="0"/>
                    </a:lnTo>
                    <a:lnTo>
                      <a:pt x="546542" y="349250"/>
                    </a:lnTo>
                    <a:close/>
                  </a:path>
                </a:pathLst>
              </a:custGeom>
              <a:solidFill>
                <a:srgbClr val="AEE4E9"/>
              </a:solidFill>
            </p:spPr>
          </p:sp>
          <p:sp>
            <p:nvSpPr>
              <p:cNvPr id="8" name="TextBox 8"/>
              <p:cNvSpPr txBox="1"/>
              <p:nvPr/>
            </p:nvSpPr>
            <p:spPr>
              <a:xfrm>
                <a:off x="114300" y="-38100"/>
                <a:ext cx="317942" cy="736600"/>
              </a:xfrm>
              <a:prstGeom prst="rect">
                <a:avLst/>
              </a:prstGeom>
            </p:spPr>
            <p:txBody>
              <a:bodyPr lIns="50800" tIns="50800" rIns="50800" bIns="50800" rtlCol="0" anchor="ctr"/>
              <a:lstStyle/>
              <a:p>
                <a:pPr algn="ctr">
                  <a:lnSpc>
                    <a:spcPts val="2659"/>
                  </a:lnSpc>
                  <a:spcBef>
                    <a:spcPct val="0"/>
                  </a:spcBef>
                </a:pPr>
                <a:endParaRPr/>
              </a:p>
            </p:txBody>
          </p:sp>
        </p:grpSp>
      </p:grpSp>
      <p:sp>
        <p:nvSpPr>
          <p:cNvPr id="9" name="Freeform 9"/>
          <p:cNvSpPr/>
          <p:nvPr/>
        </p:nvSpPr>
        <p:spPr>
          <a:xfrm>
            <a:off x="13726338" y="8585436"/>
            <a:ext cx="1545826" cy="1341004"/>
          </a:xfrm>
          <a:custGeom>
            <a:avLst/>
            <a:gdLst/>
            <a:ahLst/>
            <a:cxnLst/>
            <a:rect l="l" t="t" r="r" b="b"/>
            <a:pathLst>
              <a:path w="1545826" h="1341004">
                <a:moveTo>
                  <a:pt x="0" y="0"/>
                </a:moveTo>
                <a:lnTo>
                  <a:pt x="1545826" y="0"/>
                </a:lnTo>
                <a:lnTo>
                  <a:pt x="1545826" y="1341004"/>
                </a:lnTo>
                <a:lnTo>
                  <a:pt x="0" y="1341004"/>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10" name="TextBox 10"/>
          <p:cNvSpPr txBox="1"/>
          <p:nvPr/>
        </p:nvSpPr>
        <p:spPr>
          <a:xfrm>
            <a:off x="640967" y="551497"/>
            <a:ext cx="7086793" cy="840106"/>
          </a:xfrm>
          <a:prstGeom prst="rect">
            <a:avLst/>
          </a:prstGeom>
        </p:spPr>
        <p:txBody>
          <a:bodyPr lIns="0" tIns="0" rIns="0" bIns="0" rtlCol="0" anchor="t">
            <a:spAutoFit/>
          </a:bodyPr>
          <a:lstStyle/>
          <a:p>
            <a:pPr algn="ctr">
              <a:lnSpc>
                <a:spcPts val="6719"/>
              </a:lnSpc>
              <a:spcBef>
                <a:spcPct val="0"/>
              </a:spcBef>
            </a:pPr>
            <a:r>
              <a:rPr lang="en-US" sz="4799" b="1">
                <a:solidFill>
                  <a:srgbClr val="000000"/>
                </a:solidFill>
                <a:latin typeface="Arial Bold"/>
                <a:ea typeface="Arial Bold"/>
                <a:cs typeface="Arial Bold"/>
                <a:sym typeface="Arial Bold"/>
              </a:rPr>
              <a:t>CLASS và OBJECT </a:t>
            </a:r>
          </a:p>
        </p:txBody>
      </p:sp>
      <p:sp>
        <p:nvSpPr>
          <p:cNvPr id="11" name="TextBox 11"/>
          <p:cNvSpPr txBox="1"/>
          <p:nvPr/>
        </p:nvSpPr>
        <p:spPr>
          <a:xfrm>
            <a:off x="1189457" y="1857622"/>
            <a:ext cx="13447765" cy="7209555"/>
          </a:xfrm>
          <a:prstGeom prst="rect">
            <a:avLst/>
          </a:prstGeom>
        </p:spPr>
        <p:txBody>
          <a:bodyPr lIns="0" tIns="0" rIns="0" bIns="0" rtlCol="0" anchor="t">
            <a:spAutoFit/>
          </a:bodyPr>
          <a:lstStyle/>
          <a:p>
            <a:pPr algn="just">
              <a:lnSpc>
                <a:spcPts val="4705"/>
              </a:lnSpc>
            </a:pPr>
            <a:r>
              <a:rPr lang="en-US" sz="3360" b="1">
                <a:solidFill>
                  <a:srgbClr val="000000"/>
                </a:solidFill>
                <a:latin typeface="Arial Bold"/>
                <a:ea typeface="Arial Bold"/>
                <a:cs typeface="Arial Bold"/>
                <a:sym typeface="Arial Bold"/>
              </a:rPr>
              <a:t>Class - Lớp </a:t>
            </a:r>
            <a:r>
              <a:rPr lang="en-US" sz="3360">
                <a:solidFill>
                  <a:srgbClr val="000000"/>
                </a:solidFill>
                <a:latin typeface="Arial"/>
                <a:ea typeface="Arial"/>
                <a:cs typeface="Arial"/>
                <a:sym typeface="Arial"/>
              </a:rPr>
              <a:t>là một khái niệm trừu tượng, dùng để chỉ một tập hợp các đối tượng có mặt trong hệ thống. Một lớp thường bao gồm hai thành phần chính là thuộc tính và phương thức.</a:t>
            </a:r>
          </a:p>
          <a:p>
            <a:pPr marL="725587" lvl="1" indent="-362794" algn="l">
              <a:lnSpc>
                <a:spcPts val="4705"/>
              </a:lnSpc>
              <a:buFont typeface="Arial"/>
              <a:buChar char="•"/>
            </a:pPr>
            <a:r>
              <a:rPr lang="en-US" sz="3360">
                <a:solidFill>
                  <a:srgbClr val="000000"/>
                </a:solidFill>
                <a:latin typeface="Arial"/>
                <a:ea typeface="Arial"/>
                <a:cs typeface="Arial"/>
                <a:sym typeface="Arial"/>
              </a:rPr>
              <a:t>Thuộc tính dùng để biểu diễn các đặc điểm hoặc trạng thái của đối tượng.</a:t>
            </a:r>
          </a:p>
          <a:p>
            <a:pPr marL="725587" lvl="1" indent="-362794" algn="l">
              <a:lnSpc>
                <a:spcPts val="4705"/>
              </a:lnSpc>
              <a:buFont typeface="Arial"/>
              <a:buChar char="•"/>
            </a:pPr>
            <a:r>
              <a:rPr lang="en-US" sz="3360">
                <a:solidFill>
                  <a:srgbClr val="000000"/>
                </a:solidFill>
                <a:latin typeface="Arial"/>
                <a:ea typeface="Arial"/>
                <a:cs typeface="Arial"/>
                <a:sym typeface="Arial"/>
              </a:rPr>
              <a:t>Phương thức dùng để mô tả các hành vi hoặc thao tác mà đối tượng có thể thực hiện</a:t>
            </a:r>
          </a:p>
          <a:p>
            <a:pPr algn="just">
              <a:lnSpc>
                <a:spcPts val="5016"/>
              </a:lnSpc>
            </a:pPr>
            <a:r>
              <a:rPr lang="en-US" sz="3583" b="1">
                <a:solidFill>
                  <a:srgbClr val="000000"/>
                </a:solidFill>
                <a:latin typeface="Arial Bold"/>
                <a:ea typeface="Arial Bold"/>
                <a:cs typeface="Arial Bold"/>
                <a:sym typeface="Arial Bold"/>
              </a:rPr>
              <a:t>Object - Đối tượng </a:t>
            </a:r>
            <a:r>
              <a:rPr lang="en-US" sz="3583">
                <a:solidFill>
                  <a:srgbClr val="000000"/>
                </a:solidFill>
                <a:latin typeface="Arial"/>
                <a:ea typeface="Arial"/>
                <a:cs typeface="Arial"/>
                <a:sym typeface="Arial"/>
              </a:rPr>
              <a:t>là một thể hiện cụ thể của lớp, là một thực thể tồn tại trong hệ thống</a:t>
            </a:r>
          </a:p>
          <a:p>
            <a:pPr marL="725587" lvl="1" indent="-362794" algn="l">
              <a:lnSpc>
                <a:spcPts val="4705"/>
              </a:lnSpc>
              <a:buFont typeface="Arial"/>
              <a:buChar char="•"/>
            </a:pPr>
            <a:r>
              <a:rPr lang="en-US" sz="3360">
                <a:solidFill>
                  <a:srgbClr val="000000"/>
                </a:solidFill>
                <a:latin typeface="Arial"/>
                <a:ea typeface="Arial"/>
                <a:cs typeface="Arial"/>
                <a:sym typeface="Arial"/>
              </a:rPr>
              <a:t>Thuộc tính của lớp tương ứng với thuộc tính của các đối tượng.</a:t>
            </a:r>
          </a:p>
          <a:p>
            <a:pPr marL="725587" lvl="1" indent="-362794" algn="l">
              <a:lnSpc>
                <a:spcPts val="4705"/>
              </a:lnSpc>
              <a:buFont typeface="Arial"/>
              <a:buChar char="•"/>
            </a:pPr>
            <a:r>
              <a:rPr lang="en-US" sz="3360">
                <a:solidFill>
                  <a:srgbClr val="000000"/>
                </a:solidFill>
                <a:latin typeface="Arial"/>
                <a:ea typeface="Arial"/>
                <a:cs typeface="Arial"/>
                <a:sym typeface="Arial"/>
              </a:rPr>
              <a:t>Phương thức của lớp tương ứng với các hành động của đối tượng</a:t>
            </a:r>
          </a:p>
          <a:p>
            <a:pPr algn="just">
              <a:lnSpc>
                <a:spcPts val="4705"/>
              </a:lnSpc>
              <a:spcBef>
                <a:spcPct val="0"/>
              </a:spcBef>
            </a:pPr>
            <a:endParaRPr lang="en-US" sz="3360">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6972531"/>
            <a:ext cx="7918348" cy="4355091"/>
          </a:xfrm>
          <a:custGeom>
            <a:avLst/>
            <a:gdLst/>
            <a:ahLst/>
            <a:cxnLst/>
            <a:rect l="l" t="t" r="r" b="b"/>
            <a:pathLst>
              <a:path w="7918348" h="4355091">
                <a:moveTo>
                  <a:pt x="0" y="0"/>
                </a:moveTo>
                <a:lnTo>
                  <a:pt x="7918348" y="0"/>
                </a:lnTo>
                <a:lnTo>
                  <a:pt x="7918348" y="4355091"/>
                </a:lnTo>
                <a:lnTo>
                  <a:pt x="0" y="4355091"/>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3" name="Group 3"/>
          <p:cNvGrpSpPr/>
          <p:nvPr/>
        </p:nvGrpSpPr>
        <p:grpSpPr>
          <a:xfrm>
            <a:off x="15116510" y="6410049"/>
            <a:ext cx="5304425" cy="4558491"/>
            <a:chOff x="0" y="0"/>
            <a:chExt cx="812800" cy="698500"/>
          </a:xfrm>
        </p:grpSpPr>
        <p:sp>
          <p:nvSpPr>
            <p:cNvPr id="4" name="Freeform 4"/>
            <p:cNvSpPr/>
            <p:nvPr/>
          </p:nvSpPr>
          <p:spPr>
            <a:xfrm>
              <a:off x="0" y="0"/>
              <a:ext cx="812800" cy="698500"/>
            </a:xfrm>
            <a:custGeom>
              <a:avLst/>
              <a:gdLst/>
              <a:ahLst/>
              <a:cxnLst/>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solidFill>
              <a:srgbClr val="023D63"/>
            </a:solidFill>
          </p:spPr>
        </p:sp>
        <p:sp>
          <p:nvSpPr>
            <p:cNvPr id="5" name="TextBox 5"/>
            <p:cNvSpPr txBox="1"/>
            <p:nvPr/>
          </p:nvSpPr>
          <p:spPr>
            <a:xfrm>
              <a:off x="114300" y="-47625"/>
              <a:ext cx="584200" cy="746125"/>
            </a:xfrm>
            <a:prstGeom prst="rect">
              <a:avLst/>
            </a:prstGeom>
          </p:spPr>
          <p:txBody>
            <a:bodyPr lIns="50800" tIns="50800" rIns="50800" bIns="50800" rtlCol="0" anchor="ctr"/>
            <a:lstStyle/>
            <a:p>
              <a:pPr algn="ctr">
                <a:lnSpc>
                  <a:spcPts val="2659"/>
                </a:lnSpc>
                <a:spcBef>
                  <a:spcPct val="0"/>
                </a:spcBef>
              </a:pPr>
              <a:endParaRPr/>
            </a:p>
          </p:txBody>
        </p:sp>
      </p:grpSp>
      <p:sp>
        <p:nvSpPr>
          <p:cNvPr id="6" name="Freeform 6"/>
          <p:cNvSpPr/>
          <p:nvPr/>
        </p:nvSpPr>
        <p:spPr>
          <a:xfrm>
            <a:off x="14003541" y="0"/>
            <a:ext cx="4284459" cy="2410008"/>
          </a:xfrm>
          <a:custGeom>
            <a:avLst/>
            <a:gdLst/>
            <a:ahLst/>
            <a:cxnLst/>
            <a:rect l="l" t="t" r="r" b="b"/>
            <a:pathLst>
              <a:path w="4284459" h="2410008">
                <a:moveTo>
                  <a:pt x="0" y="0"/>
                </a:moveTo>
                <a:lnTo>
                  <a:pt x="4284459" y="0"/>
                </a:lnTo>
                <a:lnTo>
                  <a:pt x="4284459" y="2410008"/>
                </a:lnTo>
                <a:lnTo>
                  <a:pt x="0" y="2410008"/>
                </a:lnTo>
                <a:lnTo>
                  <a:pt x="0" y="0"/>
                </a:lnTo>
                <a:close/>
              </a:path>
            </a:pathLst>
          </a:custGeom>
          <a:blipFill>
            <a:blip r:embed="rId3"/>
            <a:stretch>
              <a:fillRect/>
            </a:stretch>
          </a:blipFill>
        </p:spPr>
      </p:sp>
      <p:sp>
        <p:nvSpPr>
          <p:cNvPr id="7" name="TextBox 7"/>
          <p:cNvSpPr txBox="1"/>
          <p:nvPr/>
        </p:nvSpPr>
        <p:spPr>
          <a:xfrm>
            <a:off x="1028700" y="1714851"/>
            <a:ext cx="12538267" cy="8945417"/>
          </a:xfrm>
          <a:prstGeom prst="rect">
            <a:avLst/>
          </a:prstGeom>
        </p:spPr>
        <p:txBody>
          <a:bodyPr lIns="0" tIns="0" rIns="0" bIns="0" rtlCol="0" anchor="t">
            <a:spAutoFit/>
          </a:bodyPr>
          <a:lstStyle/>
          <a:p>
            <a:pPr algn="just">
              <a:lnSpc>
                <a:spcPts val="5170"/>
              </a:lnSpc>
            </a:pPr>
            <a:r>
              <a:rPr lang="en-US" sz="3693">
                <a:solidFill>
                  <a:srgbClr val="000000"/>
                </a:solidFill>
                <a:latin typeface="Noto Sans"/>
                <a:ea typeface="Noto Sans"/>
                <a:cs typeface="Noto Sans"/>
                <a:sym typeface="Noto Sans"/>
              </a:rPr>
              <a:t>Là cơ chế kết hợp dữ liệu và các phương thức xử lý dữ liệu vào trong cùng một lớp, kiểm soát quyền truy cập từ bên ngoài đối với dữ liệu của đối tượng.Trong C++, tính đóng gói được thể hiện thông qua các phạm vi truy cập như:</a:t>
            </a:r>
          </a:p>
          <a:p>
            <a:pPr marL="732601" lvl="1" indent="-366300" algn="just">
              <a:lnSpc>
                <a:spcPts val="4750"/>
              </a:lnSpc>
              <a:buFont typeface="Arial"/>
              <a:buChar char="•"/>
            </a:pPr>
            <a:r>
              <a:rPr lang="en-US" sz="3393">
                <a:solidFill>
                  <a:srgbClr val="000000"/>
                </a:solidFill>
                <a:latin typeface="Noto Sans"/>
                <a:ea typeface="Noto Sans"/>
                <a:cs typeface="Noto Sans"/>
                <a:sym typeface="Noto Sans"/>
              </a:rPr>
              <a:t>private: Các thành phần được khai báo trong private chỉ có thể được truy cập trực tiếp bên trong lớp.</a:t>
            </a:r>
          </a:p>
          <a:p>
            <a:pPr marL="797369" lvl="1" indent="-398684" algn="just">
              <a:lnSpc>
                <a:spcPts val="5170"/>
              </a:lnSpc>
              <a:buFont typeface="Arial"/>
              <a:buChar char="•"/>
            </a:pPr>
            <a:r>
              <a:rPr lang="en-US" sz="3693">
                <a:solidFill>
                  <a:srgbClr val="000000"/>
                </a:solidFill>
                <a:latin typeface="Noto Sans"/>
                <a:ea typeface="Noto Sans"/>
                <a:cs typeface="Noto Sans"/>
                <a:sym typeface="Noto Sans"/>
              </a:rPr>
              <a:t>public: Các thành phần được khai báo trong public có thể được truy cập từ bên ngoài thông qua đối tượng.</a:t>
            </a:r>
          </a:p>
          <a:p>
            <a:pPr marL="797369" lvl="1" indent="-398684" algn="just">
              <a:lnSpc>
                <a:spcPts val="5170"/>
              </a:lnSpc>
              <a:buFont typeface="Arial"/>
              <a:buChar char="•"/>
            </a:pPr>
            <a:r>
              <a:rPr lang="en-US" sz="3693">
                <a:solidFill>
                  <a:srgbClr val="000000"/>
                </a:solidFill>
                <a:latin typeface="Noto Sans"/>
                <a:ea typeface="Noto Sans"/>
                <a:cs typeface="Noto Sans"/>
                <a:sym typeface="Noto Sans"/>
              </a:rPr>
              <a:t>protected: Các thành phần có thể được truy cập trong chính lớp và các lớp kế thừa.</a:t>
            </a:r>
          </a:p>
          <a:p>
            <a:pPr algn="just">
              <a:lnSpc>
                <a:spcPts val="5170"/>
              </a:lnSpc>
            </a:pPr>
            <a:endParaRPr lang="en-US" sz="3693">
              <a:solidFill>
                <a:srgbClr val="000000"/>
              </a:solidFill>
              <a:latin typeface="Noto Sans"/>
              <a:ea typeface="Noto Sans"/>
              <a:cs typeface="Noto Sans"/>
              <a:sym typeface="Noto Sans"/>
            </a:endParaRPr>
          </a:p>
          <a:p>
            <a:pPr algn="just">
              <a:lnSpc>
                <a:spcPts val="5170"/>
              </a:lnSpc>
            </a:pPr>
            <a:endParaRPr lang="en-US" sz="3693">
              <a:solidFill>
                <a:srgbClr val="000000"/>
              </a:solidFill>
              <a:latin typeface="Noto Sans"/>
              <a:ea typeface="Noto Sans"/>
              <a:cs typeface="Noto Sans"/>
              <a:sym typeface="Noto Sans"/>
            </a:endParaRPr>
          </a:p>
          <a:p>
            <a:pPr algn="just">
              <a:lnSpc>
                <a:spcPts val="5170"/>
              </a:lnSpc>
            </a:pPr>
            <a:endParaRPr lang="en-US" sz="3693">
              <a:solidFill>
                <a:srgbClr val="000000"/>
              </a:solidFill>
              <a:latin typeface="Noto Sans"/>
              <a:ea typeface="Noto Sans"/>
              <a:cs typeface="Noto Sans"/>
              <a:sym typeface="Noto Sans"/>
            </a:endParaRPr>
          </a:p>
        </p:txBody>
      </p:sp>
      <p:sp>
        <p:nvSpPr>
          <p:cNvPr id="8" name="TextBox 8"/>
          <p:cNvSpPr txBox="1"/>
          <p:nvPr/>
        </p:nvSpPr>
        <p:spPr>
          <a:xfrm>
            <a:off x="1028700" y="533149"/>
            <a:ext cx="11495819" cy="840106"/>
          </a:xfrm>
          <a:prstGeom prst="rect">
            <a:avLst/>
          </a:prstGeom>
        </p:spPr>
        <p:txBody>
          <a:bodyPr lIns="0" tIns="0" rIns="0" bIns="0" rtlCol="0" anchor="t">
            <a:spAutoFit/>
          </a:bodyPr>
          <a:lstStyle/>
          <a:p>
            <a:pPr algn="just">
              <a:lnSpc>
                <a:spcPts val="6719"/>
              </a:lnSpc>
              <a:spcBef>
                <a:spcPct val="0"/>
              </a:spcBef>
            </a:pPr>
            <a:r>
              <a:rPr lang="en-US" sz="4799" b="1">
                <a:solidFill>
                  <a:srgbClr val="000000"/>
                </a:solidFill>
                <a:latin typeface="Arial Bold"/>
                <a:ea typeface="Arial Bold"/>
                <a:cs typeface="Arial Bold"/>
                <a:sym typeface="Arial Bold"/>
              </a:rPr>
              <a:t>Tính đóng gói  </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5400000">
            <a:off x="15508040" y="8442892"/>
            <a:ext cx="762503" cy="1630815"/>
          </a:xfrm>
          <a:custGeom>
            <a:avLst/>
            <a:gdLst/>
            <a:ahLst/>
            <a:cxnLst/>
            <a:rect l="l" t="t" r="r" b="b"/>
            <a:pathLst>
              <a:path w="762503" h="1630815">
                <a:moveTo>
                  <a:pt x="0" y="0"/>
                </a:moveTo>
                <a:lnTo>
                  <a:pt x="762503" y="0"/>
                </a:lnTo>
                <a:lnTo>
                  <a:pt x="762503" y="1630816"/>
                </a:lnTo>
                <a:lnTo>
                  <a:pt x="0" y="1630816"/>
                </a:lnTo>
                <a:lnTo>
                  <a:pt x="0" y="0"/>
                </a:lnTo>
                <a:close/>
              </a:path>
            </a:pathLst>
          </a:custGeom>
          <a:blipFill>
            <a:blip>
              <a:extLst>
                <a:ext uri="{96DAC541-7B7A-43D3-8B79-37D633B846F1}">
                  <asvg:svgBlip xmlns:asvg="http://schemas.microsoft.com/office/drawing/2016/SVG/main" r:embed="rId2"/>
                </a:ext>
              </a:extLst>
            </a:blip>
            <a:stretch>
              <a:fillRect b="-23452"/>
            </a:stretch>
          </a:blipFill>
        </p:spPr>
      </p:sp>
      <p:sp>
        <p:nvSpPr>
          <p:cNvPr id="3" name="Freeform 3"/>
          <p:cNvSpPr/>
          <p:nvPr/>
        </p:nvSpPr>
        <p:spPr>
          <a:xfrm>
            <a:off x="0" y="6972531"/>
            <a:ext cx="7918348" cy="4355091"/>
          </a:xfrm>
          <a:custGeom>
            <a:avLst/>
            <a:gdLst/>
            <a:ahLst/>
            <a:cxnLst/>
            <a:rect l="l" t="t" r="r" b="b"/>
            <a:pathLst>
              <a:path w="7918348" h="4355091">
                <a:moveTo>
                  <a:pt x="0" y="0"/>
                </a:moveTo>
                <a:lnTo>
                  <a:pt x="7918348" y="0"/>
                </a:lnTo>
                <a:lnTo>
                  <a:pt x="7918348" y="4355091"/>
                </a:lnTo>
                <a:lnTo>
                  <a:pt x="0" y="4355091"/>
                </a:lnTo>
                <a:lnTo>
                  <a:pt x="0" y="0"/>
                </a:lnTo>
                <a:close/>
              </a:path>
            </a:pathLst>
          </a:custGeom>
          <a:blipFill>
            <a:blip>
              <a:extLst>
                <a:ext uri="{96DAC541-7B7A-43D3-8B79-37D633B846F1}">
                  <asvg:svgBlip xmlns:asvg="http://schemas.microsoft.com/office/drawing/2016/SVG/main" r:embed="rId3"/>
                </a:ext>
              </a:extLst>
            </a:blip>
            <a:stretch>
              <a:fillRect/>
            </a:stretch>
          </a:blipFill>
        </p:spPr>
      </p:sp>
      <p:grpSp>
        <p:nvGrpSpPr>
          <p:cNvPr id="4" name="Group 4"/>
          <p:cNvGrpSpPr/>
          <p:nvPr/>
        </p:nvGrpSpPr>
        <p:grpSpPr>
          <a:xfrm>
            <a:off x="16038306" y="1813865"/>
            <a:ext cx="4499387" cy="6637439"/>
            <a:chOff x="0" y="0"/>
            <a:chExt cx="5999183" cy="8849918"/>
          </a:xfrm>
        </p:grpSpPr>
        <p:grpSp>
          <p:nvGrpSpPr>
            <p:cNvPr id="5" name="Group 5"/>
            <p:cNvGrpSpPr/>
            <p:nvPr/>
          </p:nvGrpSpPr>
          <p:grpSpPr>
            <a:xfrm>
              <a:off x="0" y="0"/>
              <a:ext cx="5999183" cy="7667164"/>
              <a:chOff x="0" y="0"/>
              <a:chExt cx="546542" cy="698500"/>
            </a:xfrm>
          </p:grpSpPr>
          <p:sp>
            <p:nvSpPr>
              <p:cNvPr id="6" name="Freeform 6"/>
              <p:cNvSpPr/>
              <p:nvPr/>
            </p:nvSpPr>
            <p:spPr>
              <a:xfrm>
                <a:off x="0" y="0"/>
                <a:ext cx="546542" cy="698500"/>
              </a:xfrm>
              <a:custGeom>
                <a:avLst/>
                <a:gdLst/>
                <a:ahLst/>
                <a:cxnLst/>
                <a:rect l="l" t="t" r="r" b="b"/>
                <a:pathLst>
                  <a:path w="546542" h="698500">
                    <a:moveTo>
                      <a:pt x="546542" y="349250"/>
                    </a:moveTo>
                    <a:lnTo>
                      <a:pt x="343342" y="698500"/>
                    </a:lnTo>
                    <a:lnTo>
                      <a:pt x="203200" y="698500"/>
                    </a:lnTo>
                    <a:lnTo>
                      <a:pt x="0" y="349250"/>
                    </a:lnTo>
                    <a:lnTo>
                      <a:pt x="203200" y="0"/>
                    </a:lnTo>
                    <a:lnTo>
                      <a:pt x="343342" y="0"/>
                    </a:lnTo>
                    <a:lnTo>
                      <a:pt x="546542" y="349250"/>
                    </a:lnTo>
                    <a:close/>
                  </a:path>
                </a:pathLst>
              </a:custGeom>
              <a:solidFill>
                <a:srgbClr val="0F81CA"/>
              </a:solidFill>
            </p:spPr>
          </p:sp>
          <p:sp>
            <p:nvSpPr>
              <p:cNvPr id="7" name="TextBox 7"/>
              <p:cNvSpPr txBox="1"/>
              <p:nvPr/>
            </p:nvSpPr>
            <p:spPr>
              <a:xfrm>
                <a:off x="114300" y="-38100"/>
                <a:ext cx="317942" cy="736600"/>
              </a:xfrm>
              <a:prstGeom prst="rect">
                <a:avLst/>
              </a:prstGeom>
            </p:spPr>
            <p:txBody>
              <a:bodyPr lIns="50800" tIns="50800" rIns="50800" bIns="50800" rtlCol="0" anchor="ctr"/>
              <a:lstStyle/>
              <a:p>
                <a:pPr algn="ctr">
                  <a:lnSpc>
                    <a:spcPts val="2660"/>
                  </a:lnSpc>
                  <a:spcBef>
                    <a:spcPct val="0"/>
                  </a:spcBef>
                </a:pPr>
                <a:endParaRPr/>
              </a:p>
            </p:txBody>
          </p:sp>
        </p:grpSp>
        <p:grpSp>
          <p:nvGrpSpPr>
            <p:cNvPr id="8" name="Group 8"/>
            <p:cNvGrpSpPr/>
            <p:nvPr/>
          </p:nvGrpSpPr>
          <p:grpSpPr>
            <a:xfrm>
              <a:off x="177137" y="2301700"/>
              <a:ext cx="5123662" cy="6548218"/>
              <a:chOff x="0" y="0"/>
              <a:chExt cx="546542" cy="698500"/>
            </a:xfrm>
          </p:grpSpPr>
          <p:sp>
            <p:nvSpPr>
              <p:cNvPr id="9" name="Freeform 9"/>
              <p:cNvSpPr/>
              <p:nvPr/>
            </p:nvSpPr>
            <p:spPr>
              <a:xfrm>
                <a:off x="0" y="0"/>
                <a:ext cx="546542" cy="698500"/>
              </a:xfrm>
              <a:custGeom>
                <a:avLst/>
                <a:gdLst/>
                <a:ahLst/>
                <a:cxnLst/>
                <a:rect l="l" t="t" r="r" b="b"/>
                <a:pathLst>
                  <a:path w="546542" h="698500">
                    <a:moveTo>
                      <a:pt x="546542" y="349250"/>
                    </a:moveTo>
                    <a:lnTo>
                      <a:pt x="343342" y="698500"/>
                    </a:lnTo>
                    <a:lnTo>
                      <a:pt x="203200" y="698500"/>
                    </a:lnTo>
                    <a:lnTo>
                      <a:pt x="0" y="349250"/>
                    </a:lnTo>
                    <a:lnTo>
                      <a:pt x="203200" y="0"/>
                    </a:lnTo>
                    <a:lnTo>
                      <a:pt x="343342" y="0"/>
                    </a:lnTo>
                    <a:lnTo>
                      <a:pt x="546542" y="349250"/>
                    </a:lnTo>
                    <a:close/>
                  </a:path>
                </a:pathLst>
              </a:custGeom>
              <a:solidFill>
                <a:srgbClr val="023D63"/>
              </a:solidFill>
            </p:spPr>
          </p:sp>
          <p:sp>
            <p:nvSpPr>
              <p:cNvPr id="10" name="TextBox 10"/>
              <p:cNvSpPr txBox="1"/>
              <p:nvPr/>
            </p:nvSpPr>
            <p:spPr>
              <a:xfrm>
                <a:off x="114300" y="-38100"/>
                <a:ext cx="317942" cy="736600"/>
              </a:xfrm>
              <a:prstGeom prst="rect">
                <a:avLst/>
              </a:prstGeom>
            </p:spPr>
            <p:txBody>
              <a:bodyPr lIns="50800" tIns="50800" rIns="50800" bIns="50800" rtlCol="0" anchor="ctr"/>
              <a:lstStyle/>
              <a:p>
                <a:pPr algn="ctr">
                  <a:lnSpc>
                    <a:spcPts val="2660"/>
                  </a:lnSpc>
                  <a:spcBef>
                    <a:spcPct val="0"/>
                  </a:spcBef>
                </a:pPr>
                <a:endParaRPr/>
              </a:p>
            </p:txBody>
          </p:sp>
        </p:grpSp>
      </p:grpSp>
      <p:sp>
        <p:nvSpPr>
          <p:cNvPr id="11" name="Freeform 11"/>
          <p:cNvSpPr/>
          <p:nvPr/>
        </p:nvSpPr>
        <p:spPr>
          <a:xfrm>
            <a:off x="3116781" y="2468800"/>
            <a:ext cx="10040270" cy="7025174"/>
          </a:xfrm>
          <a:custGeom>
            <a:avLst/>
            <a:gdLst/>
            <a:ahLst/>
            <a:cxnLst/>
            <a:rect l="l" t="t" r="r" b="b"/>
            <a:pathLst>
              <a:path w="10040270" h="7025174">
                <a:moveTo>
                  <a:pt x="0" y="0"/>
                </a:moveTo>
                <a:lnTo>
                  <a:pt x="10040270" y="0"/>
                </a:lnTo>
                <a:lnTo>
                  <a:pt x="10040270" y="7025174"/>
                </a:lnTo>
                <a:lnTo>
                  <a:pt x="0" y="7025174"/>
                </a:lnTo>
                <a:lnTo>
                  <a:pt x="0" y="0"/>
                </a:lnTo>
                <a:close/>
              </a:path>
            </a:pathLst>
          </a:custGeom>
          <a:blipFill>
            <a:blip r:embed="rId4"/>
            <a:stretch>
              <a:fillRect/>
            </a:stretch>
          </a:blipFill>
        </p:spPr>
      </p:sp>
      <p:sp>
        <p:nvSpPr>
          <p:cNvPr id="12" name="TextBox 12"/>
          <p:cNvSpPr txBox="1"/>
          <p:nvPr/>
        </p:nvSpPr>
        <p:spPr>
          <a:xfrm>
            <a:off x="1028700" y="843902"/>
            <a:ext cx="15360389" cy="1854201"/>
          </a:xfrm>
          <a:prstGeom prst="rect">
            <a:avLst/>
          </a:prstGeom>
        </p:spPr>
        <p:txBody>
          <a:bodyPr lIns="0" tIns="0" rIns="0" bIns="0" rtlCol="0" anchor="t">
            <a:spAutoFit/>
          </a:bodyPr>
          <a:lstStyle/>
          <a:p>
            <a:pPr algn="l">
              <a:lnSpc>
                <a:spcPts val="4899"/>
              </a:lnSpc>
              <a:spcBef>
                <a:spcPct val="0"/>
              </a:spcBef>
            </a:pPr>
            <a:r>
              <a:rPr lang="en-US" sz="3499">
                <a:solidFill>
                  <a:srgbClr val="000000"/>
                </a:solidFill>
                <a:latin typeface="Arial"/>
                <a:ea typeface="Arial"/>
                <a:cs typeface="Arial"/>
                <a:sym typeface="Arial"/>
              </a:rPr>
              <a:t> Trong đề tài, nhóm áp dụng tính đóng gói bằng cách đặt các thuộc tính của lớp DuAn trong phạm vi private:</a:t>
            </a:r>
          </a:p>
          <a:p>
            <a:pPr algn="l">
              <a:lnSpc>
                <a:spcPts val="4899"/>
              </a:lnSpc>
              <a:spcBef>
                <a:spcPct val="0"/>
              </a:spcBef>
            </a:pPr>
            <a:endParaRPr lang="en-US" sz="3499">
              <a:solidFill>
                <a:srgbClr val="000000"/>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5400000">
            <a:off x="1291812" y="-169820"/>
            <a:ext cx="762503" cy="1630815"/>
          </a:xfrm>
          <a:custGeom>
            <a:avLst/>
            <a:gdLst/>
            <a:ahLst/>
            <a:cxnLst/>
            <a:rect l="l" t="t" r="r" b="b"/>
            <a:pathLst>
              <a:path w="762503" h="1630815">
                <a:moveTo>
                  <a:pt x="0" y="0"/>
                </a:moveTo>
                <a:lnTo>
                  <a:pt x="762503" y="0"/>
                </a:lnTo>
                <a:lnTo>
                  <a:pt x="762503" y="1630815"/>
                </a:lnTo>
                <a:lnTo>
                  <a:pt x="0" y="1630815"/>
                </a:lnTo>
                <a:lnTo>
                  <a:pt x="0" y="0"/>
                </a:lnTo>
                <a:close/>
              </a:path>
            </a:pathLst>
          </a:custGeom>
          <a:blipFill>
            <a:blip>
              <a:alphaModFix amt="47000"/>
              <a:extLst>
                <a:ext uri="{96DAC541-7B7A-43D3-8B79-37D633B846F1}">
                  <asvg:svgBlip xmlns:asvg="http://schemas.microsoft.com/office/drawing/2016/SVG/main" r:embed="rId2"/>
                </a:ext>
              </a:extLst>
            </a:blip>
            <a:stretch>
              <a:fillRect b="-23452"/>
            </a:stretch>
          </a:blipFill>
        </p:spPr>
      </p:sp>
      <p:sp>
        <p:nvSpPr>
          <p:cNvPr id="3" name="Freeform 3"/>
          <p:cNvSpPr/>
          <p:nvPr/>
        </p:nvSpPr>
        <p:spPr>
          <a:xfrm rot="-3530918">
            <a:off x="13137216" y="5975168"/>
            <a:ext cx="7427774" cy="4085275"/>
          </a:xfrm>
          <a:custGeom>
            <a:avLst/>
            <a:gdLst/>
            <a:ahLst/>
            <a:cxnLst/>
            <a:rect l="l" t="t" r="r" b="b"/>
            <a:pathLst>
              <a:path w="7427774" h="4085275">
                <a:moveTo>
                  <a:pt x="0" y="0"/>
                </a:moveTo>
                <a:lnTo>
                  <a:pt x="7427774" y="0"/>
                </a:lnTo>
                <a:lnTo>
                  <a:pt x="7427774" y="4085276"/>
                </a:lnTo>
                <a:lnTo>
                  <a:pt x="0" y="4085276"/>
                </a:lnTo>
                <a:lnTo>
                  <a:pt x="0" y="0"/>
                </a:lnTo>
                <a:close/>
              </a:path>
            </a:pathLst>
          </a:custGeom>
          <a:blipFill>
            <a:blip>
              <a:alphaModFix amt="48000"/>
              <a:extLst>
                <a:ext uri="{96DAC541-7B7A-43D3-8B79-37D633B846F1}">
                  <asvg:svgBlip xmlns:asvg="http://schemas.microsoft.com/office/drawing/2016/SVG/main" r:embed="rId3"/>
                </a:ext>
              </a:extLst>
            </a:blip>
            <a:stretch>
              <a:fillRect/>
            </a:stretch>
          </a:blipFill>
        </p:spPr>
      </p:sp>
      <p:grpSp>
        <p:nvGrpSpPr>
          <p:cNvPr id="4" name="Group 4"/>
          <p:cNvGrpSpPr/>
          <p:nvPr/>
        </p:nvGrpSpPr>
        <p:grpSpPr>
          <a:xfrm>
            <a:off x="-1295092" y="7509436"/>
            <a:ext cx="5495314" cy="4582769"/>
            <a:chOff x="0" y="0"/>
            <a:chExt cx="837589" cy="698500"/>
          </a:xfrm>
        </p:grpSpPr>
        <p:sp>
          <p:nvSpPr>
            <p:cNvPr id="5" name="Freeform 5"/>
            <p:cNvSpPr/>
            <p:nvPr/>
          </p:nvSpPr>
          <p:spPr>
            <a:xfrm>
              <a:off x="0" y="0"/>
              <a:ext cx="837589" cy="698500"/>
            </a:xfrm>
            <a:custGeom>
              <a:avLst/>
              <a:gdLst/>
              <a:ahLst/>
              <a:cxnLst/>
              <a:rect l="l" t="t" r="r" b="b"/>
              <a:pathLst>
                <a:path w="837589" h="698500">
                  <a:moveTo>
                    <a:pt x="837589" y="349250"/>
                  </a:moveTo>
                  <a:lnTo>
                    <a:pt x="634389" y="698500"/>
                  </a:lnTo>
                  <a:lnTo>
                    <a:pt x="203200" y="698500"/>
                  </a:lnTo>
                  <a:lnTo>
                    <a:pt x="0" y="349250"/>
                  </a:lnTo>
                  <a:lnTo>
                    <a:pt x="203200" y="0"/>
                  </a:lnTo>
                  <a:lnTo>
                    <a:pt x="634389" y="0"/>
                  </a:lnTo>
                  <a:lnTo>
                    <a:pt x="837589" y="349250"/>
                  </a:lnTo>
                  <a:close/>
                </a:path>
              </a:pathLst>
            </a:custGeom>
            <a:solidFill>
              <a:srgbClr val="52BBFF"/>
            </a:solidFill>
          </p:spPr>
        </p:sp>
        <p:sp>
          <p:nvSpPr>
            <p:cNvPr id="6" name="TextBox 6"/>
            <p:cNvSpPr txBox="1"/>
            <p:nvPr/>
          </p:nvSpPr>
          <p:spPr>
            <a:xfrm>
              <a:off x="114300" y="-47625"/>
              <a:ext cx="608989" cy="746125"/>
            </a:xfrm>
            <a:prstGeom prst="rect">
              <a:avLst/>
            </a:prstGeom>
          </p:spPr>
          <p:txBody>
            <a:bodyPr lIns="50800" tIns="50800" rIns="50800" bIns="50800" rtlCol="0" anchor="ctr"/>
            <a:lstStyle/>
            <a:p>
              <a:pPr algn="ctr">
                <a:lnSpc>
                  <a:spcPts val="2659"/>
                </a:lnSpc>
                <a:spcBef>
                  <a:spcPct val="0"/>
                </a:spcBef>
              </a:pPr>
              <a:endParaRPr/>
            </a:p>
          </p:txBody>
        </p:sp>
      </p:grpSp>
      <p:grpSp>
        <p:nvGrpSpPr>
          <p:cNvPr id="7" name="Group 7"/>
          <p:cNvGrpSpPr/>
          <p:nvPr/>
        </p:nvGrpSpPr>
        <p:grpSpPr>
          <a:xfrm>
            <a:off x="14193158" y="-1645797"/>
            <a:ext cx="5495314" cy="4582769"/>
            <a:chOff x="0" y="0"/>
            <a:chExt cx="837589" cy="698500"/>
          </a:xfrm>
        </p:grpSpPr>
        <p:sp>
          <p:nvSpPr>
            <p:cNvPr id="8" name="Freeform 8"/>
            <p:cNvSpPr/>
            <p:nvPr/>
          </p:nvSpPr>
          <p:spPr>
            <a:xfrm>
              <a:off x="0" y="0"/>
              <a:ext cx="837589" cy="698500"/>
            </a:xfrm>
            <a:custGeom>
              <a:avLst/>
              <a:gdLst/>
              <a:ahLst/>
              <a:cxnLst/>
              <a:rect l="l" t="t" r="r" b="b"/>
              <a:pathLst>
                <a:path w="837589" h="698500">
                  <a:moveTo>
                    <a:pt x="837589" y="349250"/>
                  </a:moveTo>
                  <a:lnTo>
                    <a:pt x="634389" y="698500"/>
                  </a:lnTo>
                  <a:lnTo>
                    <a:pt x="203200" y="698500"/>
                  </a:lnTo>
                  <a:lnTo>
                    <a:pt x="0" y="349250"/>
                  </a:lnTo>
                  <a:lnTo>
                    <a:pt x="203200" y="0"/>
                  </a:lnTo>
                  <a:lnTo>
                    <a:pt x="634389" y="0"/>
                  </a:lnTo>
                  <a:lnTo>
                    <a:pt x="837589" y="349250"/>
                  </a:lnTo>
                  <a:close/>
                </a:path>
              </a:pathLst>
            </a:custGeom>
            <a:solidFill>
              <a:srgbClr val="52BBFF"/>
            </a:solidFill>
          </p:spPr>
        </p:sp>
        <p:sp>
          <p:nvSpPr>
            <p:cNvPr id="9" name="TextBox 9"/>
            <p:cNvSpPr txBox="1"/>
            <p:nvPr/>
          </p:nvSpPr>
          <p:spPr>
            <a:xfrm>
              <a:off x="114300" y="-47625"/>
              <a:ext cx="608989" cy="746125"/>
            </a:xfrm>
            <a:prstGeom prst="rect">
              <a:avLst/>
            </a:prstGeom>
          </p:spPr>
          <p:txBody>
            <a:bodyPr lIns="50800" tIns="50800" rIns="50800" bIns="50800" rtlCol="0" anchor="ctr"/>
            <a:lstStyle/>
            <a:p>
              <a:pPr algn="ctr">
                <a:lnSpc>
                  <a:spcPts val="2659"/>
                </a:lnSpc>
                <a:spcBef>
                  <a:spcPct val="0"/>
                </a:spcBef>
              </a:pPr>
              <a:endParaRPr/>
            </a:p>
          </p:txBody>
        </p:sp>
      </p:grpSp>
      <p:sp>
        <p:nvSpPr>
          <p:cNvPr id="10" name="TextBox 10"/>
          <p:cNvSpPr txBox="1"/>
          <p:nvPr/>
        </p:nvSpPr>
        <p:spPr>
          <a:xfrm>
            <a:off x="1246541" y="2439524"/>
            <a:ext cx="12520095" cy="4949826"/>
          </a:xfrm>
          <a:prstGeom prst="rect">
            <a:avLst/>
          </a:prstGeom>
        </p:spPr>
        <p:txBody>
          <a:bodyPr lIns="0" tIns="0" rIns="0" bIns="0" rtlCol="0" anchor="t">
            <a:spAutoFit/>
          </a:bodyPr>
          <a:lstStyle/>
          <a:p>
            <a:pPr algn="l">
              <a:lnSpc>
                <a:spcPts val="4899"/>
              </a:lnSpc>
            </a:pPr>
            <a:r>
              <a:rPr lang="en-US" sz="3499">
                <a:solidFill>
                  <a:srgbClr val="000000"/>
                </a:solidFill>
                <a:latin typeface="Arial"/>
                <a:ea typeface="Arial"/>
                <a:cs typeface="Arial"/>
                <a:sym typeface="Arial"/>
              </a:rPr>
              <a:t>Mảng đối tượng là một cấu trúc dữ liệu gồm nhiều phần tử, trong đó mỗi phần tử là một đối tượng thuộc cùng một lớp. Mảng đối tượng cho phép quản lý nhiều đối tượng có cùng đặc điểm và thực hiện các thao tác trên toàn bộ danh sách thông qua chỉ số của mảng.</a:t>
            </a:r>
          </a:p>
          <a:p>
            <a:pPr algn="l">
              <a:lnSpc>
                <a:spcPts val="4899"/>
              </a:lnSpc>
            </a:pPr>
            <a:r>
              <a:rPr lang="en-US" sz="3499">
                <a:solidFill>
                  <a:srgbClr val="000000"/>
                </a:solidFill>
                <a:latin typeface="Arial"/>
                <a:ea typeface="Arial"/>
                <a:cs typeface="Arial"/>
                <a:sym typeface="Arial"/>
              </a:rPr>
              <a:t>Trong đề tài, nhóm sử dụng mảng đối tượng để lưu trữ danh sách các dự án:</a:t>
            </a:r>
          </a:p>
          <a:p>
            <a:pPr algn="l">
              <a:lnSpc>
                <a:spcPts val="4899"/>
              </a:lnSpc>
              <a:spcBef>
                <a:spcPct val="0"/>
              </a:spcBef>
            </a:pPr>
            <a:r>
              <a:rPr lang="en-US" sz="3499">
                <a:solidFill>
                  <a:srgbClr val="000000"/>
                </a:solidFill>
                <a:latin typeface="Arial"/>
                <a:ea typeface="Arial"/>
                <a:cs typeface="Arial"/>
                <a:sym typeface="Arial"/>
              </a:rPr>
              <a:t>DuAn ds[200];</a:t>
            </a:r>
          </a:p>
        </p:txBody>
      </p:sp>
      <p:sp>
        <p:nvSpPr>
          <p:cNvPr id="11" name="TextBox 11"/>
          <p:cNvSpPr txBox="1"/>
          <p:nvPr/>
        </p:nvSpPr>
        <p:spPr>
          <a:xfrm>
            <a:off x="1673063" y="922064"/>
            <a:ext cx="9879871" cy="990537"/>
          </a:xfrm>
          <a:prstGeom prst="rect">
            <a:avLst/>
          </a:prstGeom>
        </p:spPr>
        <p:txBody>
          <a:bodyPr lIns="0" tIns="0" rIns="0" bIns="0" rtlCol="0" anchor="t">
            <a:spAutoFit/>
          </a:bodyPr>
          <a:lstStyle/>
          <a:p>
            <a:pPr algn="ctr">
              <a:lnSpc>
                <a:spcPts val="8170"/>
              </a:lnSpc>
            </a:pPr>
            <a:r>
              <a:rPr lang="en-US" sz="5836" b="1">
                <a:solidFill>
                  <a:srgbClr val="000000"/>
                </a:solidFill>
                <a:latin typeface="Noto Sans Bold"/>
                <a:ea typeface="Noto Sans Bold"/>
                <a:cs typeface="Noto Sans Bold"/>
                <a:sym typeface="Noto Sans Bold"/>
              </a:rPr>
              <a:t>Mảng đối tượng</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028700" y="2263843"/>
            <a:ext cx="15197737" cy="8664576"/>
          </a:xfrm>
          <a:prstGeom prst="rect">
            <a:avLst/>
          </a:prstGeom>
        </p:spPr>
        <p:txBody>
          <a:bodyPr lIns="0" tIns="0" rIns="0" bIns="0" rtlCol="0" anchor="t">
            <a:spAutoFit/>
          </a:bodyPr>
          <a:lstStyle/>
          <a:p>
            <a:pPr marL="755646" lvl="1" indent="-377823" algn="l">
              <a:lnSpc>
                <a:spcPts val="4899"/>
              </a:lnSpc>
              <a:buFont typeface="Arial"/>
              <a:buChar char="•"/>
            </a:pPr>
            <a:r>
              <a:rPr lang="en-US" sz="3499">
                <a:solidFill>
                  <a:srgbClr val="000000"/>
                </a:solidFill>
                <a:latin typeface="Arial"/>
                <a:ea typeface="Arial"/>
                <a:cs typeface="Arial"/>
                <a:sym typeface="Arial"/>
              </a:rPr>
              <a:t>Thao tác 1: Duyệt mảng đối tượng</a:t>
            </a:r>
          </a:p>
          <a:p>
            <a:pPr algn="l">
              <a:lnSpc>
                <a:spcPts val="4899"/>
              </a:lnSpc>
            </a:pPr>
            <a:endParaRPr lang="en-US" sz="3499">
              <a:solidFill>
                <a:srgbClr val="000000"/>
              </a:solidFill>
              <a:latin typeface="Arial"/>
              <a:ea typeface="Arial"/>
              <a:cs typeface="Arial"/>
              <a:sym typeface="Arial"/>
            </a:endParaRPr>
          </a:p>
          <a:p>
            <a:pPr marL="755646" lvl="1" indent="-377823" algn="l">
              <a:lnSpc>
                <a:spcPts val="4899"/>
              </a:lnSpc>
              <a:buFont typeface="Arial"/>
              <a:buChar char="•"/>
            </a:pPr>
            <a:r>
              <a:rPr lang="en-US" sz="3499">
                <a:solidFill>
                  <a:srgbClr val="000000"/>
                </a:solidFill>
                <a:latin typeface="Arial"/>
                <a:ea typeface="Arial"/>
                <a:cs typeface="Arial"/>
                <a:sym typeface="Arial"/>
              </a:rPr>
              <a:t>Thao tác 2: Sắp xếp mảng đối tượng</a:t>
            </a:r>
          </a:p>
          <a:p>
            <a:pPr algn="l">
              <a:lnSpc>
                <a:spcPts val="4899"/>
              </a:lnSpc>
            </a:pPr>
            <a:endParaRPr lang="en-US" sz="3499">
              <a:solidFill>
                <a:srgbClr val="000000"/>
              </a:solidFill>
              <a:latin typeface="Arial"/>
              <a:ea typeface="Arial"/>
              <a:cs typeface="Arial"/>
              <a:sym typeface="Arial"/>
            </a:endParaRPr>
          </a:p>
          <a:p>
            <a:pPr marL="755646" lvl="1" indent="-377823" algn="l">
              <a:lnSpc>
                <a:spcPts val="4899"/>
              </a:lnSpc>
              <a:buFont typeface="Arial"/>
              <a:buChar char="•"/>
            </a:pPr>
            <a:r>
              <a:rPr lang="en-US" sz="3499">
                <a:solidFill>
                  <a:srgbClr val="000000"/>
                </a:solidFill>
                <a:latin typeface="Arial"/>
                <a:ea typeface="Arial"/>
                <a:cs typeface="Arial"/>
                <a:sym typeface="Arial"/>
              </a:rPr>
              <a:t>Thao tác 3: Tìm kiếm trong mảng đối tượng</a:t>
            </a:r>
          </a:p>
          <a:p>
            <a:pPr algn="l">
              <a:lnSpc>
                <a:spcPts val="4899"/>
              </a:lnSpc>
            </a:pPr>
            <a:endParaRPr lang="en-US" sz="3499">
              <a:solidFill>
                <a:srgbClr val="000000"/>
              </a:solidFill>
              <a:latin typeface="Arial"/>
              <a:ea typeface="Arial"/>
              <a:cs typeface="Arial"/>
              <a:sym typeface="Arial"/>
            </a:endParaRPr>
          </a:p>
          <a:p>
            <a:pPr marL="755646" lvl="1" indent="-377823" algn="l">
              <a:lnSpc>
                <a:spcPts val="4899"/>
              </a:lnSpc>
              <a:buFont typeface="Arial"/>
              <a:buChar char="•"/>
            </a:pPr>
            <a:r>
              <a:rPr lang="en-US" sz="3499">
                <a:solidFill>
                  <a:srgbClr val="000000"/>
                </a:solidFill>
                <a:latin typeface="Arial"/>
                <a:ea typeface="Arial"/>
                <a:cs typeface="Arial"/>
                <a:sym typeface="Arial"/>
              </a:rPr>
              <a:t>Thao tác 4: Bổ sung đối tượng vào mảng</a:t>
            </a:r>
          </a:p>
          <a:p>
            <a:pPr algn="l">
              <a:lnSpc>
                <a:spcPts val="4899"/>
              </a:lnSpc>
            </a:pPr>
            <a:endParaRPr lang="en-US" sz="3499">
              <a:solidFill>
                <a:srgbClr val="000000"/>
              </a:solidFill>
              <a:latin typeface="Arial"/>
              <a:ea typeface="Arial"/>
              <a:cs typeface="Arial"/>
              <a:sym typeface="Arial"/>
            </a:endParaRPr>
          </a:p>
          <a:p>
            <a:pPr marL="755646" lvl="1" indent="-377823" algn="l">
              <a:lnSpc>
                <a:spcPts val="4899"/>
              </a:lnSpc>
              <a:buFont typeface="Arial"/>
              <a:buChar char="•"/>
            </a:pPr>
            <a:r>
              <a:rPr lang="en-US" sz="3499">
                <a:solidFill>
                  <a:srgbClr val="000000"/>
                </a:solidFill>
                <a:latin typeface="Arial"/>
                <a:ea typeface="Arial"/>
                <a:cs typeface="Arial"/>
                <a:sym typeface="Arial"/>
              </a:rPr>
              <a:t>Thao tác 5: Xoá đối tượng khỏi mảng</a:t>
            </a:r>
          </a:p>
          <a:p>
            <a:pPr algn="l">
              <a:lnSpc>
                <a:spcPts val="4899"/>
              </a:lnSpc>
            </a:pPr>
            <a:endParaRPr lang="en-US" sz="3499">
              <a:solidFill>
                <a:srgbClr val="000000"/>
              </a:solidFill>
              <a:latin typeface="Arial"/>
              <a:ea typeface="Arial"/>
              <a:cs typeface="Arial"/>
              <a:sym typeface="Arial"/>
            </a:endParaRPr>
          </a:p>
          <a:p>
            <a:pPr algn="l">
              <a:lnSpc>
                <a:spcPts val="4899"/>
              </a:lnSpc>
            </a:pPr>
            <a:r>
              <a:rPr lang="en-US" sz="3499">
                <a:solidFill>
                  <a:srgbClr val="000000"/>
                </a:solidFill>
                <a:latin typeface="Arial"/>
                <a:ea typeface="Arial"/>
                <a:cs typeface="Arial"/>
                <a:sym typeface="Arial"/>
              </a:rPr>
              <a:t> </a:t>
            </a:r>
          </a:p>
          <a:p>
            <a:pPr algn="l">
              <a:lnSpc>
                <a:spcPts val="4899"/>
              </a:lnSpc>
            </a:pPr>
            <a:endParaRPr lang="en-US" sz="3499">
              <a:solidFill>
                <a:srgbClr val="000000"/>
              </a:solidFill>
              <a:latin typeface="Arial"/>
              <a:ea typeface="Arial"/>
              <a:cs typeface="Arial"/>
              <a:sym typeface="Arial"/>
            </a:endParaRPr>
          </a:p>
          <a:p>
            <a:pPr algn="l">
              <a:lnSpc>
                <a:spcPts val="4899"/>
              </a:lnSpc>
            </a:pPr>
            <a:endParaRPr lang="en-US" sz="3499">
              <a:solidFill>
                <a:srgbClr val="000000"/>
              </a:solidFill>
              <a:latin typeface="Arial"/>
              <a:ea typeface="Arial"/>
              <a:cs typeface="Arial"/>
              <a:sym typeface="Arial"/>
            </a:endParaRPr>
          </a:p>
          <a:p>
            <a:pPr marL="0" lvl="0" indent="0" algn="l">
              <a:lnSpc>
                <a:spcPts val="4899"/>
              </a:lnSpc>
              <a:spcBef>
                <a:spcPct val="0"/>
              </a:spcBef>
            </a:pPr>
            <a:endParaRPr lang="en-US" sz="3499">
              <a:solidFill>
                <a:srgbClr val="000000"/>
              </a:solidFill>
              <a:latin typeface="Arial"/>
              <a:ea typeface="Arial"/>
              <a:cs typeface="Arial"/>
              <a:sym typeface="Arial"/>
            </a:endParaRPr>
          </a:p>
        </p:txBody>
      </p:sp>
      <p:sp>
        <p:nvSpPr>
          <p:cNvPr id="3" name="Freeform 3"/>
          <p:cNvSpPr/>
          <p:nvPr/>
        </p:nvSpPr>
        <p:spPr>
          <a:xfrm>
            <a:off x="17259300" y="280409"/>
            <a:ext cx="1545826" cy="1341004"/>
          </a:xfrm>
          <a:custGeom>
            <a:avLst/>
            <a:gdLst/>
            <a:ahLst/>
            <a:cxnLst/>
            <a:rect l="l" t="t" r="r" b="b"/>
            <a:pathLst>
              <a:path w="1545826" h="1341004">
                <a:moveTo>
                  <a:pt x="0" y="0"/>
                </a:moveTo>
                <a:lnTo>
                  <a:pt x="1545826" y="0"/>
                </a:lnTo>
                <a:lnTo>
                  <a:pt x="1545826" y="1341005"/>
                </a:lnTo>
                <a:lnTo>
                  <a:pt x="0" y="1341005"/>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4" name="TextBox 4"/>
          <p:cNvSpPr txBox="1"/>
          <p:nvPr/>
        </p:nvSpPr>
        <p:spPr>
          <a:xfrm>
            <a:off x="3757180" y="969962"/>
            <a:ext cx="9740777" cy="739776"/>
          </a:xfrm>
          <a:prstGeom prst="rect">
            <a:avLst/>
          </a:prstGeom>
        </p:spPr>
        <p:txBody>
          <a:bodyPr lIns="0" tIns="0" rIns="0" bIns="0" rtlCol="0" anchor="t">
            <a:spAutoFit/>
          </a:bodyPr>
          <a:lstStyle/>
          <a:p>
            <a:pPr marL="0" lvl="0" indent="0" algn="l">
              <a:lnSpc>
                <a:spcPts val="5500"/>
              </a:lnSpc>
            </a:pPr>
            <a:r>
              <a:rPr lang="en-US" sz="5000" b="1">
                <a:solidFill>
                  <a:srgbClr val="000000"/>
                </a:solidFill>
                <a:latin typeface="Arial Bold"/>
                <a:ea typeface="Arial Bold"/>
                <a:cs typeface="Arial Bold"/>
                <a:sym typeface="Arial Bold"/>
              </a:rPr>
              <a:t>Thao tác trên mảng đối tượng </a:t>
            </a:r>
          </a:p>
        </p:txBody>
      </p:sp>
      <p:sp>
        <p:nvSpPr>
          <p:cNvPr id="5" name="Freeform 5"/>
          <p:cNvSpPr/>
          <p:nvPr/>
        </p:nvSpPr>
        <p:spPr>
          <a:xfrm>
            <a:off x="17259300" y="3946543"/>
            <a:ext cx="1545826" cy="1341004"/>
          </a:xfrm>
          <a:custGeom>
            <a:avLst/>
            <a:gdLst/>
            <a:ahLst/>
            <a:cxnLst/>
            <a:rect l="l" t="t" r="r" b="b"/>
            <a:pathLst>
              <a:path w="1545826" h="1341004">
                <a:moveTo>
                  <a:pt x="0" y="0"/>
                </a:moveTo>
                <a:lnTo>
                  <a:pt x="1545826" y="0"/>
                </a:lnTo>
                <a:lnTo>
                  <a:pt x="1545826" y="1341004"/>
                </a:lnTo>
                <a:lnTo>
                  <a:pt x="0" y="1341004"/>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6" name="Freeform 6"/>
          <p:cNvSpPr/>
          <p:nvPr/>
        </p:nvSpPr>
        <p:spPr>
          <a:xfrm>
            <a:off x="17259300" y="7612676"/>
            <a:ext cx="1545826" cy="1341004"/>
          </a:xfrm>
          <a:custGeom>
            <a:avLst/>
            <a:gdLst/>
            <a:ahLst/>
            <a:cxnLst/>
            <a:rect l="l" t="t" r="r" b="b"/>
            <a:pathLst>
              <a:path w="1545826" h="1341004">
                <a:moveTo>
                  <a:pt x="0" y="0"/>
                </a:moveTo>
                <a:lnTo>
                  <a:pt x="1545826" y="0"/>
                </a:lnTo>
                <a:lnTo>
                  <a:pt x="1545826" y="1341004"/>
                </a:lnTo>
                <a:lnTo>
                  <a:pt x="0" y="1341004"/>
                </a:lnTo>
                <a:lnTo>
                  <a:pt x="0" y="0"/>
                </a:lnTo>
                <a:close/>
              </a:path>
            </a:pathLst>
          </a:custGeom>
          <a:blipFill>
            <a:blip>
              <a:extLst>
                <a:ext uri="{96DAC541-7B7A-43D3-8B79-37D633B846F1}">
                  <asvg:svgBlip xmlns:asvg="http://schemas.microsoft.com/office/drawing/2016/SVG/main" r:embed="rId2"/>
                </a:ext>
              </a:extLst>
            </a:blip>
            <a:stretch>
              <a:fillRect/>
            </a:stretch>
          </a:blipFill>
        </p:spPr>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6972531"/>
            <a:ext cx="7918348" cy="4355091"/>
          </a:xfrm>
          <a:custGeom>
            <a:avLst/>
            <a:gdLst/>
            <a:ahLst/>
            <a:cxnLst/>
            <a:rect l="l" t="t" r="r" b="b"/>
            <a:pathLst>
              <a:path w="7918348" h="4355091">
                <a:moveTo>
                  <a:pt x="0" y="0"/>
                </a:moveTo>
                <a:lnTo>
                  <a:pt x="7918348" y="0"/>
                </a:lnTo>
                <a:lnTo>
                  <a:pt x="7918348" y="4355091"/>
                </a:lnTo>
                <a:lnTo>
                  <a:pt x="0" y="4355091"/>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3" name="Group 3"/>
          <p:cNvGrpSpPr/>
          <p:nvPr/>
        </p:nvGrpSpPr>
        <p:grpSpPr>
          <a:xfrm>
            <a:off x="10526356" y="1872088"/>
            <a:ext cx="8983540" cy="7187696"/>
            <a:chOff x="0" y="0"/>
            <a:chExt cx="1005807" cy="804743"/>
          </a:xfrm>
        </p:grpSpPr>
        <p:sp>
          <p:nvSpPr>
            <p:cNvPr id="4" name="Freeform 4"/>
            <p:cNvSpPr/>
            <p:nvPr/>
          </p:nvSpPr>
          <p:spPr>
            <a:xfrm>
              <a:off x="0" y="0"/>
              <a:ext cx="1005807" cy="804743"/>
            </a:xfrm>
            <a:custGeom>
              <a:avLst/>
              <a:gdLst/>
              <a:ahLst/>
              <a:cxnLst/>
              <a:rect l="l" t="t" r="r" b="b"/>
              <a:pathLst>
                <a:path w="1005807" h="804743">
                  <a:moveTo>
                    <a:pt x="802607" y="0"/>
                  </a:moveTo>
                  <a:lnTo>
                    <a:pt x="0" y="0"/>
                  </a:lnTo>
                  <a:lnTo>
                    <a:pt x="0" y="804743"/>
                  </a:lnTo>
                  <a:lnTo>
                    <a:pt x="802607" y="804743"/>
                  </a:lnTo>
                  <a:lnTo>
                    <a:pt x="1005807" y="402371"/>
                  </a:lnTo>
                  <a:lnTo>
                    <a:pt x="802607" y="0"/>
                  </a:lnTo>
                  <a:close/>
                </a:path>
              </a:pathLst>
            </a:custGeom>
            <a:blipFill>
              <a:blip r:embed="rId3">
                <a:alphaModFix amt="73000"/>
              </a:blip>
              <a:stretch>
                <a:fillRect l="-10157" r="-10157"/>
              </a:stretch>
            </a:blipFill>
          </p:spPr>
        </p:sp>
      </p:grpSp>
      <p:sp>
        <p:nvSpPr>
          <p:cNvPr id="5" name="TextBox 5"/>
          <p:cNvSpPr txBox="1"/>
          <p:nvPr/>
        </p:nvSpPr>
        <p:spPr>
          <a:xfrm>
            <a:off x="699154" y="668337"/>
            <a:ext cx="7781408" cy="739776"/>
          </a:xfrm>
          <a:prstGeom prst="rect">
            <a:avLst/>
          </a:prstGeom>
        </p:spPr>
        <p:txBody>
          <a:bodyPr lIns="0" tIns="0" rIns="0" bIns="0" rtlCol="0" anchor="t">
            <a:spAutoFit/>
          </a:bodyPr>
          <a:lstStyle/>
          <a:p>
            <a:pPr marL="0" lvl="0" indent="0" algn="l">
              <a:lnSpc>
                <a:spcPts val="5500"/>
              </a:lnSpc>
            </a:pPr>
            <a:r>
              <a:rPr lang="en-US" sz="5000" b="1">
                <a:solidFill>
                  <a:srgbClr val="000000"/>
                </a:solidFill>
                <a:latin typeface="Arial Bold"/>
                <a:ea typeface="Arial Bold"/>
                <a:cs typeface="Arial Bold"/>
                <a:sym typeface="Arial Bold"/>
              </a:rPr>
              <a:t>3. PHÂN TÍCH BÀI TOÁN</a:t>
            </a:r>
          </a:p>
        </p:txBody>
      </p:sp>
      <p:sp>
        <p:nvSpPr>
          <p:cNvPr id="6" name="TextBox 6"/>
          <p:cNvSpPr txBox="1"/>
          <p:nvPr/>
        </p:nvSpPr>
        <p:spPr>
          <a:xfrm>
            <a:off x="2011719" y="1575872"/>
            <a:ext cx="8292958" cy="8016875"/>
          </a:xfrm>
          <a:prstGeom prst="rect">
            <a:avLst/>
          </a:prstGeom>
        </p:spPr>
        <p:txBody>
          <a:bodyPr lIns="0" tIns="0" rIns="0" bIns="0" rtlCol="0" anchor="t">
            <a:spAutoFit/>
          </a:bodyPr>
          <a:lstStyle/>
          <a:p>
            <a:pPr algn="just">
              <a:lnSpc>
                <a:spcPts val="4899"/>
              </a:lnSpc>
            </a:pPr>
            <a:r>
              <a:rPr lang="en-US" sz="3499">
                <a:solidFill>
                  <a:srgbClr val="000000"/>
                </a:solidFill>
                <a:latin typeface="Noto Sans"/>
                <a:ea typeface="Noto Sans"/>
                <a:cs typeface="Noto Sans"/>
                <a:sym typeface="Noto Sans"/>
              </a:rPr>
              <a:t>Đối tượng cần quản lý:</a:t>
            </a:r>
          </a:p>
          <a:p>
            <a:pPr algn="just">
              <a:lnSpc>
                <a:spcPts val="4899"/>
              </a:lnSpc>
            </a:pPr>
            <a:r>
              <a:rPr lang="en-US" sz="3499">
                <a:solidFill>
                  <a:srgbClr val="000000"/>
                </a:solidFill>
                <a:latin typeface="Noto Sans"/>
                <a:ea typeface="Noto Sans"/>
                <a:cs typeface="Noto Sans"/>
                <a:sym typeface="Noto Sans"/>
              </a:rPr>
              <a:t>Dự án phần mềm</a:t>
            </a:r>
          </a:p>
          <a:p>
            <a:pPr algn="just">
              <a:lnSpc>
                <a:spcPts val="4899"/>
              </a:lnSpc>
            </a:pPr>
            <a:r>
              <a:rPr lang="en-US" sz="3499">
                <a:solidFill>
                  <a:srgbClr val="000000"/>
                </a:solidFill>
                <a:latin typeface="Noto Sans"/>
                <a:ea typeface="Noto Sans"/>
                <a:cs typeface="Noto Sans"/>
                <a:sym typeface="Noto Sans"/>
              </a:rPr>
              <a:t>Mỗi dự án gồm:</a:t>
            </a:r>
          </a:p>
          <a:p>
            <a:pPr marL="755649" lvl="1" indent="-377824" algn="just">
              <a:lnSpc>
                <a:spcPts val="4899"/>
              </a:lnSpc>
              <a:buFont typeface="Arial"/>
              <a:buChar char="•"/>
            </a:pPr>
            <a:r>
              <a:rPr lang="en-US" sz="3499">
                <a:solidFill>
                  <a:srgbClr val="000000"/>
                </a:solidFill>
                <a:latin typeface="Noto Sans"/>
                <a:ea typeface="Noto Sans"/>
                <a:cs typeface="Noto Sans"/>
                <a:sym typeface="Noto Sans"/>
              </a:rPr>
              <a:t>Mã dự án</a:t>
            </a:r>
          </a:p>
          <a:p>
            <a:pPr marL="755649" lvl="1" indent="-377824" algn="just">
              <a:lnSpc>
                <a:spcPts val="4899"/>
              </a:lnSpc>
              <a:buFont typeface="Arial"/>
              <a:buChar char="•"/>
            </a:pPr>
            <a:r>
              <a:rPr lang="en-US" sz="3499">
                <a:solidFill>
                  <a:srgbClr val="000000"/>
                </a:solidFill>
                <a:latin typeface="Noto Sans"/>
                <a:ea typeface="Noto Sans"/>
                <a:cs typeface="Noto Sans"/>
                <a:sym typeface="Noto Sans"/>
              </a:rPr>
              <a:t>Tên dự án</a:t>
            </a:r>
          </a:p>
          <a:p>
            <a:pPr marL="755649" lvl="1" indent="-377824" algn="just">
              <a:lnSpc>
                <a:spcPts val="4899"/>
              </a:lnSpc>
              <a:buFont typeface="Arial"/>
              <a:buChar char="•"/>
            </a:pPr>
            <a:r>
              <a:rPr lang="en-US" sz="3499">
                <a:solidFill>
                  <a:srgbClr val="000000"/>
                </a:solidFill>
                <a:latin typeface="Noto Sans"/>
                <a:ea typeface="Noto Sans"/>
                <a:cs typeface="Noto Sans"/>
                <a:sym typeface="Noto Sans"/>
              </a:rPr>
              <a:t>Tên khách hàng</a:t>
            </a:r>
          </a:p>
          <a:p>
            <a:pPr marL="755649" lvl="1" indent="-377824" algn="just">
              <a:lnSpc>
                <a:spcPts val="4899"/>
              </a:lnSpc>
              <a:buFont typeface="Arial"/>
              <a:buChar char="•"/>
            </a:pPr>
            <a:r>
              <a:rPr lang="en-US" sz="3499">
                <a:solidFill>
                  <a:srgbClr val="000000"/>
                </a:solidFill>
                <a:latin typeface="Noto Sans"/>
                <a:ea typeface="Noto Sans"/>
                <a:cs typeface="Noto Sans"/>
                <a:sym typeface="Noto Sans"/>
              </a:rPr>
              <a:t>Ngày bắt đầu</a:t>
            </a:r>
          </a:p>
          <a:p>
            <a:pPr marL="755649" lvl="1" indent="-377824" algn="just">
              <a:lnSpc>
                <a:spcPts val="4899"/>
              </a:lnSpc>
              <a:buFont typeface="Arial"/>
              <a:buChar char="•"/>
            </a:pPr>
            <a:r>
              <a:rPr lang="en-US" sz="3499">
                <a:solidFill>
                  <a:srgbClr val="000000"/>
                </a:solidFill>
                <a:latin typeface="Noto Sans"/>
                <a:ea typeface="Noto Sans"/>
                <a:cs typeface="Noto Sans"/>
                <a:sym typeface="Noto Sans"/>
              </a:rPr>
              <a:t>Ngày kết thúc dự kiến</a:t>
            </a:r>
          </a:p>
          <a:p>
            <a:pPr marL="755649" lvl="1" indent="-377824" algn="just">
              <a:lnSpc>
                <a:spcPts val="4899"/>
              </a:lnSpc>
              <a:buFont typeface="Arial"/>
              <a:buChar char="•"/>
            </a:pPr>
            <a:r>
              <a:rPr lang="en-US" sz="3499">
                <a:solidFill>
                  <a:srgbClr val="000000"/>
                </a:solidFill>
                <a:latin typeface="Noto Sans"/>
                <a:ea typeface="Noto Sans"/>
                <a:cs typeface="Noto Sans"/>
                <a:sym typeface="Noto Sans"/>
              </a:rPr>
              <a:t>Ngân sách</a:t>
            </a:r>
          </a:p>
          <a:p>
            <a:pPr marL="755649" lvl="1" indent="-377824" algn="just">
              <a:lnSpc>
                <a:spcPts val="4899"/>
              </a:lnSpc>
              <a:buFont typeface="Arial"/>
              <a:buChar char="•"/>
            </a:pPr>
            <a:r>
              <a:rPr lang="en-US" sz="3499">
                <a:solidFill>
                  <a:srgbClr val="000000"/>
                </a:solidFill>
                <a:latin typeface="Noto Sans"/>
                <a:ea typeface="Noto Sans"/>
                <a:cs typeface="Noto Sans"/>
                <a:sym typeface="Noto Sans"/>
              </a:rPr>
              <a:t>Tỷ lệ hoàn thành (%)</a:t>
            </a:r>
          </a:p>
          <a:p>
            <a:pPr algn="just">
              <a:lnSpc>
                <a:spcPts val="4899"/>
              </a:lnSpc>
            </a:pPr>
            <a:r>
              <a:rPr lang="en-US" sz="3499">
                <a:solidFill>
                  <a:srgbClr val="000000"/>
                </a:solidFill>
                <a:latin typeface="Noto Sans"/>
                <a:ea typeface="Noto Sans"/>
                <a:cs typeface="Noto Sans"/>
                <a:sym typeface="Noto Sans"/>
              </a:rPr>
              <a:t>→ Các thông tin trên được lưu trong một đối tượng Dự án.</a:t>
            </a:r>
          </a:p>
          <a:p>
            <a:pPr algn="just">
              <a:lnSpc>
                <a:spcPts val="4899"/>
              </a:lnSpc>
            </a:pPr>
            <a:endParaRPr lang="en-US" sz="3499">
              <a:solidFill>
                <a:srgbClr val="000000"/>
              </a:solidFill>
              <a:latin typeface="Noto Sans"/>
              <a:ea typeface="Noto Sans"/>
              <a:cs typeface="Noto Sans"/>
              <a:sym typeface="Noto Sans"/>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5400000">
            <a:off x="15508040" y="8442892"/>
            <a:ext cx="762503" cy="1630815"/>
          </a:xfrm>
          <a:custGeom>
            <a:avLst/>
            <a:gdLst/>
            <a:ahLst/>
            <a:cxnLst/>
            <a:rect l="l" t="t" r="r" b="b"/>
            <a:pathLst>
              <a:path w="762503" h="1630815">
                <a:moveTo>
                  <a:pt x="0" y="0"/>
                </a:moveTo>
                <a:lnTo>
                  <a:pt x="762503" y="0"/>
                </a:lnTo>
                <a:lnTo>
                  <a:pt x="762503" y="1630816"/>
                </a:lnTo>
                <a:lnTo>
                  <a:pt x="0" y="1630816"/>
                </a:lnTo>
                <a:lnTo>
                  <a:pt x="0" y="0"/>
                </a:lnTo>
                <a:close/>
              </a:path>
            </a:pathLst>
          </a:custGeom>
          <a:blipFill>
            <a:blip>
              <a:extLst>
                <a:ext uri="{96DAC541-7B7A-43D3-8B79-37D633B846F1}">
                  <asvg:svgBlip xmlns:asvg="http://schemas.microsoft.com/office/drawing/2016/SVG/main" r:embed="rId2"/>
                </a:ext>
              </a:extLst>
            </a:blip>
            <a:stretch>
              <a:fillRect b="-23452"/>
            </a:stretch>
          </a:blipFill>
        </p:spPr>
      </p:sp>
      <p:sp>
        <p:nvSpPr>
          <p:cNvPr id="3" name="Freeform 3"/>
          <p:cNvSpPr/>
          <p:nvPr/>
        </p:nvSpPr>
        <p:spPr>
          <a:xfrm>
            <a:off x="0" y="6972531"/>
            <a:ext cx="7918348" cy="4355091"/>
          </a:xfrm>
          <a:custGeom>
            <a:avLst/>
            <a:gdLst/>
            <a:ahLst/>
            <a:cxnLst/>
            <a:rect l="l" t="t" r="r" b="b"/>
            <a:pathLst>
              <a:path w="7918348" h="4355091">
                <a:moveTo>
                  <a:pt x="0" y="0"/>
                </a:moveTo>
                <a:lnTo>
                  <a:pt x="7918348" y="0"/>
                </a:lnTo>
                <a:lnTo>
                  <a:pt x="7918348" y="4355091"/>
                </a:lnTo>
                <a:lnTo>
                  <a:pt x="0" y="4355091"/>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4" name="TextBox 4"/>
          <p:cNvSpPr txBox="1"/>
          <p:nvPr/>
        </p:nvSpPr>
        <p:spPr>
          <a:xfrm>
            <a:off x="390958" y="247446"/>
            <a:ext cx="13809073" cy="873126"/>
          </a:xfrm>
          <a:prstGeom prst="rect">
            <a:avLst/>
          </a:prstGeom>
        </p:spPr>
        <p:txBody>
          <a:bodyPr lIns="0" tIns="0" rIns="0" bIns="0" rtlCol="0" anchor="t">
            <a:spAutoFit/>
          </a:bodyPr>
          <a:lstStyle/>
          <a:p>
            <a:pPr algn="ctr">
              <a:lnSpc>
                <a:spcPts val="6999"/>
              </a:lnSpc>
              <a:spcBef>
                <a:spcPct val="0"/>
              </a:spcBef>
            </a:pPr>
            <a:r>
              <a:rPr lang="en-US" sz="4999" b="1">
                <a:solidFill>
                  <a:srgbClr val="000000"/>
                </a:solidFill>
                <a:latin typeface="Arial Bold"/>
                <a:ea typeface="Arial Bold"/>
                <a:cs typeface="Arial Bold"/>
                <a:sym typeface="Arial Bold"/>
              </a:rPr>
              <a:t>4. THIẾT KẾ LỚP ĐỐI TƯỢNG ( DỰ ÁN )</a:t>
            </a:r>
          </a:p>
        </p:txBody>
      </p:sp>
      <p:sp>
        <p:nvSpPr>
          <p:cNvPr id="5" name="TextBox 5"/>
          <p:cNvSpPr txBox="1"/>
          <p:nvPr/>
        </p:nvSpPr>
        <p:spPr>
          <a:xfrm>
            <a:off x="3114183" y="2263228"/>
            <a:ext cx="3751765" cy="6188076"/>
          </a:xfrm>
          <a:prstGeom prst="rect">
            <a:avLst/>
          </a:prstGeom>
        </p:spPr>
        <p:txBody>
          <a:bodyPr lIns="0" tIns="0" rIns="0" bIns="0" rtlCol="0" anchor="t">
            <a:spAutoFit/>
          </a:bodyPr>
          <a:lstStyle/>
          <a:p>
            <a:pPr algn="just">
              <a:lnSpc>
                <a:spcPts val="4899"/>
              </a:lnSpc>
            </a:pPr>
            <a:r>
              <a:rPr lang="en-US" sz="3499">
                <a:solidFill>
                  <a:srgbClr val="000000"/>
                </a:solidFill>
                <a:latin typeface="Arial"/>
                <a:ea typeface="Arial"/>
                <a:cs typeface="Arial"/>
                <a:sym typeface="Arial"/>
              </a:rPr>
              <a:t>Class: DuAn</a:t>
            </a:r>
          </a:p>
          <a:p>
            <a:pPr algn="just">
              <a:lnSpc>
                <a:spcPts val="4899"/>
              </a:lnSpc>
            </a:pPr>
            <a:r>
              <a:rPr lang="en-US" sz="3499">
                <a:solidFill>
                  <a:srgbClr val="000000"/>
                </a:solidFill>
                <a:latin typeface="Arial"/>
                <a:ea typeface="Arial"/>
                <a:cs typeface="Arial"/>
                <a:sym typeface="Arial"/>
              </a:rPr>
              <a:t>Thuộc tính:</a:t>
            </a:r>
          </a:p>
          <a:p>
            <a:pPr algn="just">
              <a:lnSpc>
                <a:spcPts val="4899"/>
              </a:lnSpc>
            </a:pPr>
            <a:r>
              <a:rPr lang="en-US" sz="3499">
                <a:solidFill>
                  <a:srgbClr val="000000"/>
                </a:solidFill>
                <a:latin typeface="Arial"/>
                <a:ea typeface="Arial"/>
                <a:cs typeface="Arial"/>
                <a:sym typeface="Arial"/>
              </a:rPr>
              <a:t>maDA</a:t>
            </a:r>
          </a:p>
          <a:p>
            <a:pPr algn="just">
              <a:lnSpc>
                <a:spcPts val="4899"/>
              </a:lnSpc>
            </a:pPr>
            <a:r>
              <a:rPr lang="en-US" sz="3499">
                <a:solidFill>
                  <a:srgbClr val="000000"/>
                </a:solidFill>
                <a:latin typeface="Arial"/>
                <a:ea typeface="Arial"/>
                <a:cs typeface="Arial"/>
                <a:sym typeface="Arial"/>
              </a:rPr>
              <a:t>tenDA</a:t>
            </a:r>
          </a:p>
          <a:p>
            <a:pPr algn="just">
              <a:lnSpc>
                <a:spcPts val="4899"/>
              </a:lnSpc>
            </a:pPr>
            <a:r>
              <a:rPr lang="en-US" sz="3499">
                <a:solidFill>
                  <a:srgbClr val="000000"/>
                </a:solidFill>
                <a:latin typeface="Arial"/>
                <a:ea typeface="Arial"/>
                <a:cs typeface="Arial"/>
                <a:sym typeface="Arial"/>
              </a:rPr>
              <a:t>khachHang</a:t>
            </a:r>
          </a:p>
          <a:p>
            <a:pPr algn="just">
              <a:lnSpc>
                <a:spcPts val="4899"/>
              </a:lnSpc>
            </a:pPr>
            <a:r>
              <a:rPr lang="en-US" sz="3499">
                <a:solidFill>
                  <a:srgbClr val="000000"/>
                </a:solidFill>
                <a:latin typeface="Arial"/>
                <a:ea typeface="Arial"/>
                <a:cs typeface="Arial"/>
                <a:sym typeface="Arial"/>
              </a:rPr>
              <a:t>ngayBD</a:t>
            </a:r>
          </a:p>
          <a:p>
            <a:pPr algn="just">
              <a:lnSpc>
                <a:spcPts val="4899"/>
              </a:lnSpc>
            </a:pPr>
            <a:r>
              <a:rPr lang="en-US" sz="3499">
                <a:solidFill>
                  <a:srgbClr val="000000"/>
                </a:solidFill>
                <a:latin typeface="Arial"/>
                <a:ea typeface="Arial"/>
                <a:cs typeface="Arial"/>
                <a:sym typeface="Arial"/>
              </a:rPr>
              <a:t>ngayKT</a:t>
            </a:r>
          </a:p>
          <a:p>
            <a:pPr algn="just">
              <a:lnSpc>
                <a:spcPts val="4899"/>
              </a:lnSpc>
            </a:pPr>
            <a:r>
              <a:rPr lang="en-US" sz="3499">
                <a:solidFill>
                  <a:srgbClr val="000000"/>
                </a:solidFill>
                <a:latin typeface="Arial"/>
                <a:ea typeface="Arial"/>
                <a:cs typeface="Arial"/>
                <a:sym typeface="Arial"/>
              </a:rPr>
              <a:t>nganSach</a:t>
            </a:r>
          </a:p>
          <a:p>
            <a:pPr algn="just">
              <a:lnSpc>
                <a:spcPts val="4899"/>
              </a:lnSpc>
            </a:pPr>
            <a:r>
              <a:rPr lang="en-US" sz="3499">
                <a:solidFill>
                  <a:srgbClr val="000000"/>
                </a:solidFill>
                <a:latin typeface="Arial"/>
                <a:ea typeface="Arial"/>
                <a:cs typeface="Arial"/>
                <a:sym typeface="Arial"/>
              </a:rPr>
              <a:t>tiLeHT</a:t>
            </a:r>
          </a:p>
          <a:p>
            <a:pPr algn="just">
              <a:lnSpc>
                <a:spcPts val="4899"/>
              </a:lnSpc>
              <a:spcBef>
                <a:spcPct val="0"/>
              </a:spcBef>
            </a:pPr>
            <a:endParaRPr lang="en-US" sz="3499">
              <a:solidFill>
                <a:srgbClr val="000000"/>
              </a:solidFill>
              <a:latin typeface="Arial"/>
              <a:ea typeface="Arial"/>
              <a:cs typeface="Arial"/>
              <a:sym typeface="Arial"/>
            </a:endParaRPr>
          </a:p>
        </p:txBody>
      </p:sp>
      <p:sp>
        <p:nvSpPr>
          <p:cNvPr id="6" name="TextBox 6"/>
          <p:cNvSpPr txBox="1"/>
          <p:nvPr/>
        </p:nvSpPr>
        <p:spPr>
          <a:xfrm>
            <a:off x="8962186" y="2377616"/>
            <a:ext cx="4896506" cy="4780915"/>
          </a:xfrm>
          <a:prstGeom prst="rect">
            <a:avLst/>
          </a:prstGeom>
        </p:spPr>
        <p:txBody>
          <a:bodyPr lIns="0" tIns="0" rIns="0" bIns="0" rtlCol="0" anchor="t">
            <a:spAutoFit/>
          </a:bodyPr>
          <a:lstStyle/>
          <a:p>
            <a:pPr algn="ctr">
              <a:lnSpc>
                <a:spcPts val="4759"/>
              </a:lnSpc>
            </a:pPr>
            <a:r>
              <a:rPr lang="en-US" sz="3399">
                <a:solidFill>
                  <a:srgbClr val="000000"/>
                </a:solidFill>
                <a:latin typeface="Noto Sans"/>
                <a:ea typeface="Noto Sans"/>
                <a:cs typeface="Noto Sans"/>
                <a:sym typeface="Noto Sans"/>
              </a:rPr>
              <a:t>Phương thức:</a:t>
            </a:r>
          </a:p>
          <a:p>
            <a:pPr algn="ctr">
              <a:lnSpc>
                <a:spcPts val="4759"/>
              </a:lnSpc>
            </a:pPr>
            <a:r>
              <a:rPr lang="en-US" sz="3399">
                <a:solidFill>
                  <a:srgbClr val="000000"/>
                </a:solidFill>
                <a:latin typeface="Noto Sans"/>
                <a:ea typeface="Noto Sans"/>
                <a:cs typeface="Noto Sans"/>
                <a:sym typeface="Noto Sans"/>
              </a:rPr>
              <a:t>nhap()</a:t>
            </a:r>
          </a:p>
          <a:p>
            <a:pPr algn="ctr">
              <a:lnSpc>
                <a:spcPts val="4759"/>
              </a:lnSpc>
            </a:pPr>
            <a:r>
              <a:rPr lang="en-US" sz="3399">
                <a:solidFill>
                  <a:srgbClr val="000000"/>
                </a:solidFill>
                <a:latin typeface="Noto Sans"/>
                <a:ea typeface="Noto Sans"/>
                <a:cs typeface="Noto Sans"/>
                <a:sym typeface="Noto Sans"/>
              </a:rPr>
              <a:t>xuat()</a:t>
            </a:r>
          </a:p>
          <a:p>
            <a:pPr algn="ctr">
              <a:lnSpc>
                <a:spcPts val="4759"/>
              </a:lnSpc>
            </a:pPr>
            <a:r>
              <a:rPr lang="en-US" sz="3399">
                <a:solidFill>
                  <a:srgbClr val="000000"/>
                </a:solidFill>
                <a:latin typeface="Noto Sans"/>
                <a:ea typeface="Noto Sans"/>
                <a:cs typeface="Noto Sans"/>
                <a:sym typeface="Noto Sans"/>
              </a:rPr>
              <a:t>timKiem()</a:t>
            </a:r>
          </a:p>
          <a:p>
            <a:pPr algn="ctr">
              <a:lnSpc>
                <a:spcPts val="4759"/>
              </a:lnSpc>
            </a:pPr>
            <a:r>
              <a:rPr lang="en-US" sz="3399">
                <a:solidFill>
                  <a:srgbClr val="000000"/>
                </a:solidFill>
                <a:latin typeface="Noto Sans"/>
                <a:ea typeface="Noto Sans"/>
                <a:cs typeface="Noto Sans"/>
                <a:sym typeface="Noto Sans"/>
              </a:rPr>
              <a:t>them()</a:t>
            </a:r>
          </a:p>
          <a:p>
            <a:pPr algn="ctr">
              <a:lnSpc>
                <a:spcPts val="4759"/>
              </a:lnSpc>
            </a:pPr>
            <a:r>
              <a:rPr lang="en-US" sz="3399">
                <a:solidFill>
                  <a:srgbClr val="000000"/>
                </a:solidFill>
                <a:latin typeface="Noto Sans"/>
                <a:ea typeface="Noto Sans"/>
                <a:cs typeface="Noto Sans"/>
                <a:sym typeface="Noto Sans"/>
              </a:rPr>
              <a:t>xoa()</a:t>
            </a:r>
          </a:p>
          <a:p>
            <a:pPr algn="ctr">
              <a:lnSpc>
                <a:spcPts val="4759"/>
              </a:lnSpc>
            </a:pPr>
            <a:r>
              <a:rPr lang="en-US" sz="3399">
                <a:solidFill>
                  <a:srgbClr val="000000"/>
                </a:solidFill>
                <a:latin typeface="Noto Sans"/>
                <a:ea typeface="Noto Sans"/>
                <a:cs typeface="Noto Sans"/>
                <a:sym typeface="Noto Sans"/>
              </a:rPr>
              <a:t>sapXep()</a:t>
            </a:r>
          </a:p>
          <a:p>
            <a:pPr algn="ctr">
              <a:lnSpc>
                <a:spcPts val="4759"/>
              </a:lnSpc>
            </a:pPr>
            <a:endParaRPr lang="en-US" sz="3399">
              <a:solidFill>
                <a:srgbClr val="000000"/>
              </a:solidFill>
              <a:latin typeface="Noto Sans"/>
              <a:ea typeface="Noto Sans"/>
              <a:cs typeface="Noto Sans"/>
              <a:sym typeface="Noto Sans"/>
            </a:endParaRPr>
          </a:p>
        </p:txBody>
      </p:sp>
      <p:grpSp>
        <p:nvGrpSpPr>
          <p:cNvPr id="7" name="Group 7"/>
          <p:cNvGrpSpPr/>
          <p:nvPr/>
        </p:nvGrpSpPr>
        <p:grpSpPr>
          <a:xfrm>
            <a:off x="16038306" y="1813865"/>
            <a:ext cx="4499387" cy="6637439"/>
            <a:chOff x="0" y="0"/>
            <a:chExt cx="5999183" cy="8849918"/>
          </a:xfrm>
        </p:grpSpPr>
        <p:grpSp>
          <p:nvGrpSpPr>
            <p:cNvPr id="8" name="Group 8"/>
            <p:cNvGrpSpPr/>
            <p:nvPr/>
          </p:nvGrpSpPr>
          <p:grpSpPr>
            <a:xfrm>
              <a:off x="0" y="0"/>
              <a:ext cx="5999183" cy="7667164"/>
              <a:chOff x="0" y="0"/>
              <a:chExt cx="546542" cy="698500"/>
            </a:xfrm>
          </p:grpSpPr>
          <p:sp>
            <p:nvSpPr>
              <p:cNvPr id="9" name="Freeform 9"/>
              <p:cNvSpPr/>
              <p:nvPr/>
            </p:nvSpPr>
            <p:spPr>
              <a:xfrm>
                <a:off x="0" y="0"/>
                <a:ext cx="546542" cy="698500"/>
              </a:xfrm>
              <a:custGeom>
                <a:avLst/>
                <a:gdLst/>
                <a:ahLst/>
                <a:cxnLst/>
                <a:rect l="l" t="t" r="r" b="b"/>
                <a:pathLst>
                  <a:path w="546542" h="698500">
                    <a:moveTo>
                      <a:pt x="546542" y="349250"/>
                    </a:moveTo>
                    <a:lnTo>
                      <a:pt x="343342" y="698500"/>
                    </a:lnTo>
                    <a:lnTo>
                      <a:pt x="203200" y="698500"/>
                    </a:lnTo>
                    <a:lnTo>
                      <a:pt x="0" y="349250"/>
                    </a:lnTo>
                    <a:lnTo>
                      <a:pt x="203200" y="0"/>
                    </a:lnTo>
                    <a:lnTo>
                      <a:pt x="343342" y="0"/>
                    </a:lnTo>
                    <a:lnTo>
                      <a:pt x="546542" y="349250"/>
                    </a:lnTo>
                    <a:close/>
                  </a:path>
                </a:pathLst>
              </a:custGeom>
              <a:solidFill>
                <a:srgbClr val="0F81CA"/>
              </a:solidFill>
            </p:spPr>
          </p:sp>
          <p:sp>
            <p:nvSpPr>
              <p:cNvPr id="10" name="TextBox 10"/>
              <p:cNvSpPr txBox="1"/>
              <p:nvPr/>
            </p:nvSpPr>
            <p:spPr>
              <a:xfrm>
                <a:off x="114300" y="-38100"/>
                <a:ext cx="317942" cy="736600"/>
              </a:xfrm>
              <a:prstGeom prst="rect">
                <a:avLst/>
              </a:prstGeom>
            </p:spPr>
            <p:txBody>
              <a:bodyPr lIns="50800" tIns="50800" rIns="50800" bIns="50800" rtlCol="0" anchor="ctr"/>
              <a:lstStyle/>
              <a:p>
                <a:pPr algn="ctr">
                  <a:lnSpc>
                    <a:spcPts val="2660"/>
                  </a:lnSpc>
                  <a:spcBef>
                    <a:spcPct val="0"/>
                  </a:spcBef>
                </a:pPr>
                <a:endParaRPr/>
              </a:p>
            </p:txBody>
          </p:sp>
        </p:grpSp>
        <p:grpSp>
          <p:nvGrpSpPr>
            <p:cNvPr id="11" name="Group 11"/>
            <p:cNvGrpSpPr/>
            <p:nvPr/>
          </p:nvGrpSpPr>
          <p:grpSpPr>
            <a:xfrm>
              <a:off x="177137" y="2301700"/>
              <a:ext cx="5123662" cy="6548218"/>
              <a:chOff x="0" y="0"/>
              <a:chExt cx="546542" cy="698500"/>
            </a:xfrm>
          </p:grpSpPr>
          <p:sp>
            <p:nvSpPr>
              <p:cNvPr id="12" name="Freeform 12"/>
              <p:cNvSpPr/>
              <p:nvPr/>
            </p:nvSpPr>
            <p:spPr>
              <a:xfrm>
                <a:off x="0" y="0"/>
                <a:ext cx="546542" cy="698500"/>
              </a:xfrm>
              <a:custGeom>
                <a:avLst/>
                <a:gdLst/>
                <a:ahLst/>
                <a:cxnLst/>
                <a:rect l="l" t="t" r="r" b="b"/>
                <a:pathLst>
                  <a:path w="546542" h="698500">
                    <a:moveTo>
                      <a:pt x="546542" y="349250"/>
                    </a:moveTo>
                    <a:lnTo>
                      <a:pt x="343342" y="698500"/>
                    </a:lnTo>
                    <a:lnTo>
                      <a:pt x="203200" y="698500"/>
                    </a:lnTo>
                    <a:lnTo>
                      <a:pt x="0" y="349250"/>
                    </a:lnTo>
                    <a:lnTo>
                      <a:pt x="203200" y="0"/>
                    </a:lnTo>
                    <a:lnTo>
                      <a:pt x="343342" y="0"/>
                    </a:lnTo>
                    <a:lnTo>
                      <a:pt x="546542" y="349250"/>
                    </a:lnTo>
                    <a:close/>
                  </a:path>
                </a:pathLst>
              </a:custGeom>
              <a:solidFill>
                <a:srgbClr val="023D63"/>
              </a:solidFill>
            </p:spPr>
          </p:sp>
          <p:sp>
            <p:nvSpPr>
              <p:cNvPr id="13" name="TextBox 13"/>
              <p:cNvSpPr txBox="1"/>
              <p:nvPr/>
            </p:nvSpPr>
            <p:spPr>
              <a:xfrm>
                <a:off x="114300" y="-38100"/>
                <a:ext cx="317942" cy="736600"/>
              </a:xfrm>
              <a:prstGeom prst="rect">
                <a:avLst/>
              </a:prstGeom>
            </p:spPr>
            <p:txBody>
              <a:bodyPr lIns="50800" tIns="50800" rIns="50800" bIns="50800" rtlCol="0" anchor="ctr"/>
              <a:lstStyle/>
              <a:p>
                <a:pPr algn="ctr">
                  <a:lnSpc>
                    <a:spcPts val="2660"/>
                  </a:lnSpc>
                  <a:spcBef>
                    <a:spcPct val="0"/>
                  </a:spcBef>
                </a:pPr>
                <a:endParaRPr/>
              </a:p>
            </p:txBody>
          </p:sp>
        </p:grp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5400000">
            <a:off x="1462856" y="594544"/>
            <a:ext cx="762503" cy="1630815"/>
          </a:xfrm>
          <a:custGeom>
            <a:avLst/>
            <a:gdLst/>
            <a:ahLst/>
            <a:cxnLst/>
            <a:rect l="l" t="t" r="r" b="b"/>
            <a:pathLst>
              <a:path w="762503" h="1630815">
                <a:moveTo>
                  <a:pt x="0" y="0"/>
                </a:moveTo>
                <a:lnTo>
                  <a:pt x="762503" y="0"/>
                </a:lnTo>
                <a:lnTo>
                  <a:pt x="762503" y="1630815"/>
                </a:lnTo>
                <a:lnTo>
                  <a:pt x="0" y="1630815"/>
                </a:lnTo>
                <a:lnTo>
                  <a:pt x="0" y="0"/>
                </a:lnTo>
                <a:close/>
              </a:path>
            </a:pathLst>
          </a:custGeom>
          <a:blipFill>
            <a:blip>
              <a:alphaModFix amt="31999"/>
              <a:extLst>
                <a:ext uri="{96DAC541-7B7A-43D3-8B79-37D633B846F1}">
                  <asvg:svgBlip xmlns:asvg="http://schemas.microsoft.com/office/drawing/2016/SVG/main" r:embed="rId2"/>
                </a:ext>
              </a:extLst>
            </a:blip>
            <a:stretch>
              <a:fillRect b="-23452"/>
            </a:stretch>
          </a:blipFill>
        </p:spPr>
      </p:sp>
      <p:sp>
        <p:nvSpPr>
          <p:cNvPr id="3" name="Freeform 3"/>
          <p:cNvSpPr/>
          <p:nvPr/>
        </p:nvSpPr>
        <p:spPr>
          <a:xfrm>
            <a:off x="0" y="6972531"/>
            <a:ext cx="7918348" cy="4355091"/>
          </a:xfrm>
          <a:custGeom>
            <a:avLst/>
            <a:gdLst/>
            <a:ahLst/>
            <a:cxnLst/>
            <a:rect l="l" t="t" r="r" b="b"/>
            <a:pathLst>
              <a:path w="7918348" h="4355091">
                <a:moveTo>
                  <a:pt x="0" y="0"/>
                </a:moveTo>
                <a:lnTo>
                  <a:pt x="7918348" y="0"/>
                </a:lnTo>
                <a:lnTo>
                  <a:pt x="7918348" y="4355091"/>
                </a:lnTo>
                <a:lnTo>
                  <a:pt x="0" y="4355091"/>
                </a:lnTo>
                <a:lnTo>
                  <a:pt x="0" y="0"/>
                </a:lnTo>
                <a:close/>
              </a:path>
            </a:pathLst>
          </a:custGeom>
          <a:blipFill>
            <a:blip>
              <a:alphaModFix amt="25000"/>
              <a:extLst>
                <a:ext uri="{96DAC541-7B7A-43D3-8B79-37D633B846F1}">
                  <asvg:svgBlip xmlns:asvg="http://schemas.microsoft.com/office/drawing/2016/SVG/main" r:embed="rId3"/>
                </a:ext>
              </a:extLst>
            </a:blip>
            <a:stretch>
              <a:fillRect/>
            </a:stretch>
          </a:blipFill>
        </p:spPr>
      </p:sp>
      <p:grpSp>
        <p:nvGrpSpPr>
          <p:cNvPr id="4" name="Group 4"/>
          <p:cNvGrpSpPr/>
          <p:nvPr/>
        </p:nvGrpSpPr>
        <p:grpSpPr>
          <a:xfrm>
            <a:off x="16961913" y="70156"/>
            <a:ext cx="4499387" cy="6637439"/>
            <a:chOff x="0" y="0"/>
            <a:chExt cx="5999183" cy="8849918"/>
          </a:xfrm>
        </p:grpSpPr>
        <p:grpSp>
          <p:nvGrpSpPr>
            <p:cNvPr id="5" name="Group 5"/>
            <p:cNvGrpSpPr/>
            <p:nvPr/>
          </p:nvGrpSpPr>
          <p:grpSpPr>
            <a:xfrm>
              <a:off x="0" y="0"/>
              <a:ext cx="5999183" cy="7667164"/>
              <a:chOff x="0" y="0"/>
              <a:chExt cx="546542" cy="698500"/>
            </a:xfrm>
          </p:grpSpPr>
          <p:sp>
            <p:nvSpPr>
              <p:cNvPr id="6" name="Freeform 6"/>
              <p:cNvSpPr/>
              <p:nvPr/>
            </p:nvSpPr>
            <p:spPr>
              <a:xfrm>
                <a:off x="0" y="0"/>
                <a:ext cx="546542" cy="698500"/>
              </a:xfrm>
              <a:custGeom>
                <a:avLst/>
                <a:gdLst/>
                <a:ahLst/>
                <a:cxnLst/>
                <a:rect l="l" t="t" r="r" b="b"/>
                <a:pathLst>
                  <a:path w="546542" h="698500">
                    <a:moveTo>
                      <a:pt x="546542" y="349250"/>
                    </a:moveTo>
                    <a:lnTo>
                      <a:pt x="343342" y="698500"/>
                    </a:lnTo>
                    <a:lnTo>
                      <a:pt x="203200" y="698500"/>
                    </a:lnTo>
                    <a:lnTo>
                      <a:pt x="0" y="349250"/>
                    </a:lnTo>
                    <a:lnTo>
                      <a:pt x="203200" y="0"/>
                    </a:lnTo>
                    <a:lnTo>
                      <a:pt x="343342" y="0"/>
                    </a:lnTo>
                    <a:lnTo>
                      <a:pt x="546542" y="349250"/>
                    </a:lnTo>
                    <a:close/>
                  </a:path>
                </a:pathLst>
              </a:custGeom>
              <a:solidFill>
                <a:srgbClr val="0F81CA"/>
              </a:solidFill>
            </p:spPr>
          </p:sp>
          <p:sp>
            <p:nvSpPr>
              <p:cNvPr id="7" name="TextBox 7"/>
              <p:cNvSpPr txBox="1"/>
              <p:nvPr/>
            </p:nvSpPr>
            <p:spPr>
              <a:xfrm>
                <a:off x="114300" y="-38100"/>
                <a:ext cx="317942" cy="736600"/>
              </a:xfrm>
              <a:prstGeom prst="rect">
                <a:avLst/>
              </a:prstGeom>
            </p:spPr>
            <p:txBody>
              <a:bodyPr lIns="50800" tIns="50800" rIns="50800" bIns="50800" rtlCol="0" anchor="ctr"/>
              <a:lstStyle/>
              <a:p>
                <a:pPr algn="ctr">
                  <a:lnSpc>
                    <a:spcPts val="2660"/>
                  </a:lnSpc>
                  <a:spcBef>
                    <a:spcPct val="0"/>
                  </a:spcBef>
                </a:pPr>
                <a:endParaRPr/>
              </a:p>
            </p:txBody>
          </p:sp>
        </p:grpSp>
        <p:grpSp>
          <p:nvGrpSpPr>
            <p:cNvPr id="8" name="Group 8"/>
            <p:cNvGrpSpPr/>
            <p:nvPr/>
          </p:nvGrpSpPr>
          <p:grpSpPr>
            <a:xfrm>
              <a:off x="177137" y="2301700"/>
              <a:ext cx="5123662" cy="6548218"/>
              <a:chOff x="0" y="0"/>
              <a:chExt cx="546542" cy="698500"/>
            </a:xfrm>
          </p:grpSpPr>
          <p:sp>
            <p:nvSpPr>
              <p:cNvPr id="9" name="Freeform 9"/>
              <p:cNvSpPr/>
              <p:nvPr/>
            </p:nvSpPr>
            <p:spPr>
              <a:xfrm>
                <a:off x="0" y="0"/>
                <a:ext cx="546542" cy="698500"/>
              </a:xfrm>
              <a:custGeom>
                <a:avLst/>
                <a:gdLst/>
                <a:ahLst/>
                <a:cxnLst/>
                <a:rect l="l" t="t" r="r" b="b"/>
                <a:pathLst>
                  <a:path w="546542" h="698500">
                    <a:moveTo>
                      <a:pt x="546542" y="349250"/>
                    </a:moveTo>
                    <a:lnTo>
                      <a:pt x="343342" y="698500"/>
                    </a:lnTo>
                    <a:lnTo>
                      <a:pt x="203200" y="698500"/>
                    </a:lnTo>
                    <a:lnTo>
                      <a:pt x="0" y="349250"/>
                    </a:lnTo>
                    <a:lnTo>
                      <a:pt x="203200" y="0"/>
                    </a:lnTo>
                    <a:lnTo>
                      <a:pt x="343342" y="0"/>
                    </a:lnTo>
                    <a:lnTo>
                      <a:pt x="546542" y="349250"/>
                    </a:lnTo>
                    <a:close/>
                  </a:path>
                </a:pathLst>
              </a:custGeom>
              <a:solidFill>
                <a:srgbClr val="023D63"/>
              </a:solidFill>
            </p:spPr>
          </p:sp>
          <p:sp>
            <p:nvSpPr>
              <p:cNvPr id="10" name="TextBox 10"/>
              <p:cNvSpPr txBox="1"/>
              <p:nvPr/>
            </p:nvSpPr>
            <p:spPr>
              <a:xfrm>
                <a:off x="114300" y="-38100"/>
                <a:ext cx="317942" cy="736600"/>
              </a:xfrm>
              <a:prstGeom prst="rect">
                <a:avLst/>
              </a:prstGeom>
            </p:spPr>
            <p:txBody>
              <a:bodyPr lIns="50800" tIns="50800" rIns="50800" bIns="50800" rtlCol="0" anchor="ctr"/>
              <a:lstStyle/>
              <a:p>
                <a:pPr algn="ctr">
                  <a:lnSpc>
                    <a:spcPts val="2660"/>
                  </a:lnSpc>
                  <a:spcBef>
                    <a:spcPct val="0"/>
                  </a:spcBef>
                </a:pPr>
                <a:endParaRPr/>
              </a:p>
            </p:txBody>
          </p:sp>
        </p:grpSp>
      </p:grpSp>
      <p:sp>
        <p:nvSpPr>
          <p:cNvPr id="11" name="Freeform 11"/>
          <p:cNvSpPr/>
          <p:nvPr/>
        </p:nvSpPr>
        <p:spPr>
          <a:xfrm>
            <a:off x="7576259" y="5010024"/>
            <a:ext cx="9143083" cy="5325846"/>
          </a:xfrm>
          <a:custGeom>
            <a:avLst/>
            <a:gdLst/>
            <a:ahLst/>
            <a:cxnLst/>
            <a:rect l="l" t="t" r="r" b="b"/>
            <a:pathLst>
              <a:path w="9143083" h="5325846">
                <a:moveTo>
                  <a:pt x="0" y="0"/>
                </a:moveTo>
                <a:lnTo>
                  <a:pt x="9143083" y="0"/>
                </a:lnTo>
                <a:lnTo>
                  <a:pt x="9143083" y="5325846"/>
                </a:lnTo>
                <a:lnTo>
                  <a:pt x="0" y="5325846"/>
                </a:lnTo>
                <a:lnTo>
                  <a:pt x="0" y="0"/>
                </a:lnTo>
                <a:close/>
              </a:path>
            </a:pathLst>
          </a:custGeom>
          <a:blipFill>
            <a:blip r:embed="rId4"/>
            <a:stretch>
              <a:fillRect l="-2" r="-2"/>
            </a:stretch>
          </a:blipFill>
        </p:spPr>
      </p:sp>
      <p:sp>
        <p:nvSpPr>
          <p:cNvPr id="12" name="TextBox 12"/>
          <p:cNvSpPr txBox="1"/>
          <p:nvPr/>
        </p:nvSpPr>
        <p:spPr>
          <a:xfrm>
            <a:off x="3543644" y="937127"/>
            <a:ext cx="11200712" cy="854076"/>
          </a:xfrm>
          <a:prstGeom prst="rect">
            <a:avLst/>
          </a:prstGeom>
        </p:spPr>
        <p:txBody>
          <a:bodyPr lIns="0" tIns="0" rIns="0" bIns="0" rtlCol="0" anchor="t">
            <a:spAutoFit/>
          </a:bodyPr>
          <a:lstStyle/>
          <a:p>
            <a:pPr algn="ctr">
              <a:lnSpc>
                <a:spcPts val="6999"/>
              </a:lnSpc>
            </a:pPr>
            <a:r>
              <a:rPr lang="en-US" sz="4999" b="1">
                <a:solidFill>
                  <a:srgbClr val="000000"/>
                </a:solidFill>
                <a:latin typeface="Noto Sans Bold"/>
                <a:ea typeface="Noto Sans Bold"/>
                <a:cs typeface="Noto Sans Bold"/>
                <a:sym typeface="Noto Sans Bold"/>
              </a:rPr>
              <a:t>5. Các chức năng của chương trình</a:t>
            </a:r>
          </a:p>
        </p:txBody>
      </p:sp>
      <p:sp>
        <p:nvSpPr>
          <p:cNvPr id="13" name="TextBox 13"/>
          <p:cNvSpPr txBox="1"/>
          <p:nvPr/>
        </p:nvSpPr>
        <p:spPr>
          <a:xfrm>
            <a:off x="1028700" y="2594342"/>
            <a:ext cx="7353662" cy="3498850"/>
          </a:xfrm>
          <a:prstGeom prst="rect">
            <a:avLst/>
          </a:prstGeom>
        </p:spPr>
        <p:txBody>
          <a:bodyPr lIns="0" tIns="0" rIns="0" bIns="0" rtlCol="0" anchor="t">
            <a:spAutoFit/>
          </a:bodyPr>
          <a:lstStyle/>
          <a:p>
            <a:pPr algn="just">
              <a:lnSpc>
                <a:spcPts val="5599"/>
              </a:lnSpc>
            </a:pPr>
            <a:r>
              <a:rPr lang="en-US" sz="3999" b="1">
                <a:solidFill>
                  <a:srgbClr val="000000"/>
                </a:solidFill>
                <a:latin typeface="Noto Sans Bold"/>
                <a:ea typeface="Noto Sans Bold"/>
                <a:cs typeface="Noto Sans Bold"/>
                <a:sym typeface="Noto Sans Bold"/>
              </a:rPr>
              <a:t>5.1. NHẬP VÀ HIỂN THỊ</a:t>
            </a:r>
          </a:p>
          <a:p>
            <a:pPr algn="just">
              <a:lnSpc>
                <a:spcPts val="5599"/>
              </a:lnSpc>
            </a:pPr>
            <a:r>
              <a:rPr lang="en-US" sz="3999" b="1">
                <a:solidFill>
                  <a:srgbClr val="000000"/>
                </a:solidFill>
                <a:latin typeface="Noto Sans Bold"/>
                <a:ea typeface="Noto Sans Bold"/>
                <a:cs typeface="Noto Sans Bold"/>
                <a:sym typeface="Noto Sans Bold"/>
              </a:rPr>
              <a:t>5.2. SẮP XẾP</a:t>
            </a:r>
          </a:p>
          <a:p>
            <a:pPr algn="just">
              <a:lnSpc>
                <a:spcPts val="5599"/>
              </a:lnSpc>
            </a:pPr>
            <a:r>
              <a:rPr lang="en-US" sz="3999" b="1">
                <a:solidFill>
                  <a:srgbClr val="000000"/>
                </a:solidFill>
                <a:latin typeface="Noto Sans Bold"/>
                <a:ea typeface="Noto Sans Bold"/>
                <a:cs typeface="Noto Sans Bold"/>
                <a:sym typeface="Noto Sans Bold"/>
              </a:rPr>
              <a:t>5.3. TÌM KIẾM</a:t>
            </a:r>
          </a:p>
          <a:p>
            <a:pPr algn="just">
              <a:lnSpc>
                <a:spcPts val="5599"/>
              </a:lnSpc>
            </a:pPr>
            <a:r>
              <a:rPr lang="en-US" sz="3999" b="1">
                <a:solidFill>
                  <a:srgbClr val="000000"/>
                </a:solidFill>
                <a:latin typeface="Noto Sans Bold"/>
                <a:ea typeface="Noto Sans Bold"/>
                <a:cs typeface="Noto Sans Bold"/>
                <a:sym typeface="Noto Sans Bold"/>
              </a:rPr>
              <a:t>5.4. BỔ SUNG DỰ ÁN</a:t>
            </a:r>
          </a:p>
          <a:p>
            <a:pPr algn="just">
              <a:lnSpc>
                <a:spcPts val="5599"/>
              </a:lnSpc>
            </a:pPr>
            <a:r>
              <a:rPr lang="en-US" sz="3999" b="1">
                <a:solidFill>
                  <a:srgbClr val="000000"/>
                </a:solidFill>
                <a:latin typeface="Noto Sans Bold"/>
                <a:ea typeface="Noto Sans Bold"/>
                <a:cs typeface="Noto Sans Bold"/>
                <a:sym typeface="Noto Sans Bold"/>
              </a:rPr>
              <a:t>5.5. XÓA DỰ ÁN</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5400000">
            <a:off x="1291812" y="-169820"/>
            <a:ext cx="762503" cy="1630815"/>
          </a:xfrm>
          <a:custGeom>
            <a:avLst/>
            <a:gdLst/>
            <a:ahLst/>
            <a:cxnLst/>
            <a:rect l="l" t="t" r="r" b="b"/>
            <a:pathLst>
              <a:path w="762503" h="1630815">
                <a:moveTo>
                  <a:pt x="0" y="0"/>
                </a:moveTo>
                <a:lnTo>
                  <a:pt x="762503" y="0"/>
                </a:lnTo>
                <a:lnTo>
                  <a:pt x="762503" y="1630815"/>
                </a:lnTo>
                <a:lnTo>
                  <a:pt x="0" y="1630815"/>
                </a:lnTo>
                <a:lnTo>
                  <a:pt x="0" y="0"/>
                </a:lnTo>
                <a:close/>
              </a:path>
            </a:pathLst>
          </a:custGeom>
          <a:blipFill>
            <a:blip>
              <a:alphaModFix amt="47000"/>
              <a:extLst>
                <a:ext uri="{96DAC541-7B7A-43D3-8B79-37D633B846F1}">
                  <asvg:svgBlip xmlns:asvg="http://schemas.microsoft.com/office/drawing/2016/SVG/main" r:embed="rId2"/>
                </a:ext>
              </a:extLst>
            </a:blip>
            <a:stretch>
              <a:fillRect b="-23452"/>
            </a:stretch>
          </a:blipFill>
        </p:spPr>
      </p:sp>
      <p:sp>
        <p:nvSpPr>
          <p:cNvPr id="3" name="Freeform 3"/>
          <p:cNvSpPr/>
          <p:nvPr/>
        </p:nvSpPr>
        <p:spPr>
          <a:xfrm>
            <a:off x="0" y="7242347"/>
            <a:ext cx="7427774" cy="4085275"/>
          </a:xfrm>
          <a:custGeom>
            <a:avLst/>
            <a:gdLst/>
            <a:ahLst/>
            <a:cxnLst/>
            <a:rect l="l" t="t" r="r" b="b"/>
            <a:pathLst>
              <a:path w="7427774" h="4085275">
                <a:moveTo>
                  <a:pt x="0" y="0"/>
                </a:moveTo>
                <a:lnTo>
                  <a:pt x="7427774" y="0"/>
                </a:lnTo>
                <a:lnTo>
                  <a:pt x="7427774" y="4085275"/>
                </a:lnTo>
                <a:lnTo>
                  <a:pt x="0" y="4085275"/>
                </a:lnTo>
                <a:lnTo>
                  <a:pt x="0" y="0"/>
                </a:lnTo>
                <a:close/>
              </a:path>
            </a:pathLst>
          </a:custGeom>
          <a:blipFill>
            <a:blip>
              <a:alphaModFix amt="48000"/>
              <a:extLst>
                <a:ext uri="{96DAC541-7B7A-43D3-8B79-37D633B846F1}">
                  <asvg:svgBlip xmlns:asvg="http://schemas.microsoft.com/office/drawing/2016/SVG/main" r:embed="rId3"/>
                </a:ext>
              </a:extLst>
            </a:blip>
            <a:stretch>
              <a:fillRect/>
            </a:stretch>
          </a:blipFill>
        </p:spPr>
      </p:sp>
      <p:grpSp>
        <p:nvGrpSpPr>
          <p:cNvPr id="4" name="Group 4"/>
          <p:cNvGrpSpPr/>
          <p:nvPr/>
        </p:nvGrpSpPr>
        <p:grpSpPr>
          <a:xfrm>
            <a:off x="13492491" y="7995615"/>
            <a:ext cx="5495314" cy="4582769"/>
            <a:chOff x="0" y="0"/>
            <a:chExt cx="837589" cy="698500"/>
          </a:xfrm>
        </p:grpSpPr>
        <p:sp>
          <p:nvSpPr>
            <p:cNvPr id="5" name="Freeform 5"/>
            <p:cNvSpPr/>
            <p:nvPr/>
          </p:nvSpPr>
          <p:spPr>
            <a:xfrm>
              <a:off x="0" y="0"/>
              <a:ext cx="837589" cy="698500"/>
            </a:xfrm>
            <a:custGeom>
              <a:avLst/>
              <a:gdLst/>
              <a:ahLst/>
              <a:cxnLst/>
              <a:rect l="l" t="t" r="r" b="b"/>
              <a:pathLst>
                <a:path w="837589" h="698500">
                  <a:moveTo>
                    <a:pt x="837589" y="349250"/>
                  </a:moveTo>
                  <a:lnTo>
                    <a:pt x="634389" y="698500"/>
                  </a:lnTo>
                  <a:lnTo>
                    <a:pt x="203200" y="698500"/>
                  </a:lnTo>
                  <a:lnTo>
                    <a:pt x="0" y="349250"/>
                  </a:lnTo>
                  <a:lnTo>
                    <a:pt x="203200" y="0"/>
                  </a:lnTo>
                  <a:lnTo>
                    <a:pt x="634389" y="0"/>
                  </a:lnTo>
                  <a:lnTo>
                    <a:pt x="837589" y="349250"/>
                  </a:lnTo>
                  <a:close/>
                </a:path>
              </a:pathLst>
            </a:custGeom>
            <a:solidFill>
              <a:srgbClr val="0F81CA"/>
            </a:solidFill>
          </p:spPr>
        </p:sp>
        <p:sp>
          <p:nvSpPr>
            <p:cNvPr id="6" name="TextBox 6"/>
            <p:cNvSpPr txBox="1"/>
            <p:nvPr/>
          </p:nvSpPr>
          <p:spPr>
            <a:xfrm>
              <a:off x="114300" y="-47625"/>
              <a:ext cx="608989" cy="746125"/>
            </a:xfrm>
            <a:prstGeom prst="rect">
              <a:avLst/>
            </a:prstGeom>
          </p:spPr>
          <p:txBody>
            <a:bodyPr lIns="50800" tIns="50800" rIns="50800" bIns="50800" rtlCol="0" anchor="ctr"/>
            <a:lstStyle/>
            <a:p>
              <a:pPr algn="ctr">
                <a:lnSpc>
                  <a:spcPts val="2659"/>
                </a:lnSpc>
                <a:spcBef>
                  <a:spcPct val="0"/>
                </a:spcBef>
              </a:pPr>
              <a:endParaRPr/>
            </a:p>
          </p:txBody>
        </p:sp>
      </p:grpSp>
      <p:grpSp>
        <p:nvGrpSpPr>
          <p:cNvPr id="7" name="Group 7"/>
          <p:cNvGrpSpPr/>
          <p:nvPr/>
        </p:nvGrpSpPr>
        <p:grpSpPr>
          <a:xfrm>
            <a:off x="14193158" y="-1645797"/>
            <a:ext cx="5495314" cy="4582769"/>
            <a:chOff x="0" y="0"/>
            <a:chExt cx="837589" cy="698500"/>
          </a:xfrm>
        </p:grpSpPr>
        <p:sp>
          <p:nvSpPr>
            <p:cNvPr id="8" name="Freeform 8"/>
            <p:cNvSpPr/>
            <p:nvPr/>
          </p:nvSpPr>
          <p:spPr>
            <a:xfrm>
              <a:off x="0" y="0"/>
              <a:ext cx="837589" cy="698500"/>
            </a:xfrm>
            <a:custGeom>
              <a:avLst/>
              <a:gdLst/>
              <a:ahLst/>
              <a:cxnLst/>
              <a:rect l="l" t="t" r="r" b="b"/>
              <a:pathLst>
                <a:path w="837589" h="698500">
                  <a:moveTo>
                    <a:pt x="837589" y="349250"/>
                  </a:moveTo>
                  <a:lnTo>
                    <a:pt x="634389" y="698500"/>
                  </a:lnTo>
                  <a:lnTo>
                    <a:pt x="203200" y="698500"/>
                  </a:lnTo>
                  <a:lnTo>
                    <a:pt x="0" y="349250"/>
                  </a:lnTo>
                  <a:lnTo>
                    <a:pt x="203200" y="0"/>
                  </a:lnTo>
                  <a:lnTo>
                    <a:pt x="634389" y="0"/>
                  </a:lnTo>
                  <a:lnTo>
                    <a:pt x="837589" y="349250"/>
                  </a:lnTo>
                  <a:close/>
                </a:path>
              </a:pathLst>
            </a:custGeom>
            <a:solidFill>
              <a:srgbClr val="0F81CA"/>
            </a:solidFill>
          </p:spPr>
        </p:sp>
        <p:sp>
          <p:nvSpPr>
            <p:cNvPr id="9" name="TextBox 9"/>
            <p:cNvSpPr txBox="1"/>
            <p:nvPr/>
          </p:nvSpPr>
          <p:spPr>
            <a:xfrm>
              <a:off x="114300" y="-47625"/>
              <a:ext cx="608989" cy="746125"/>
            </a:xfrm>
            <a:prstGeom prst="rect">
              <a:avLst/>
            </a:prstGeom>
          </p:spPr>
          <p:txBody>
            <a:bodyPr lIns="50800" tIns="50800" rIns="50800" bIns="50800" rtlCol="0" anchor="ctr"/>
            <a:lstStyle/>
            <a:p>
              <a:pPr algn="ctr">
                <a:lnSpc>
                  <a:spcPts val="2659"/>
                </a:lnSpc>
                <a:spcBef>
                  <a:spcPct val="0"/>
                </a:spcBef>
              </a:pPr>
              <a:endParaRPr/>
            </a:p>
          </p:txBody>
        </p:sp>
      </p:grpSp>
      <p:sp>
        <p:nvSpPr>
          <p:cNvPr id="10" name="TextBox 10"/>
          <p:cNvSpPr txBox="1"/>
          <p:nvPr/>
        </p:nvSpPr>
        <p:spPr>
          <a:xfrm>
            <a:off x="2161761" y="1951533"/>
            <a:ext cx="12520095" cy="5916296"/>
          </a:xfrm>
          <a:prstGeom prst="rect">
            <a:avLst/>
          </a:prstGeom>
        </p:spPr>
        <p:txBody>
          <a:bodyPr lIns="0" tIns="0" rIns="0" bIns="0" rtlCol="0" anchor="t">
            <a:spAutoFit/>
          </a:bodyPr>
          <a:lstStyle/>
          <a:p>
            <a:pPr algn="l">
              <a:lnSpc>
                <a:spcPts val="5179"/>
              </a:lnSpc>
            </a:pPr>
            <a:r>
              <a:rPr lang="en-US" sz="3699">
                <a:solidFill>
                  <a:srgbClr val="000000"/>
                </a:solidFill>
                <a:latin typeface="Arial"/>
                <a:ea typeface="Arial"/>
                <a:cs typeface="Arial"/>
                <a:sym typeface="Arial"/>
              </a:rPr>
              <a:t>Nhập danh sách</a:t>
            </a:r>
          </a:p>
          <a:p>
            <a:pPr marL="798825" lvl="1" indent="-399412" algn="l">
              <a:lnSpc>
                <a:spcPts val="5179"/>
              </a:lnSpc>
              <a:buFont typeface="Arial"/>
              <a:buChar char="•"/>
            </a:pPr>
            <a:r>
              <a:rPr lang="en-US" sz="3699">
                <a:solidFill>
                  <a:srgbClr val="000000"/>
                </a:solidFill>
                <a:latin typeface="Arial"/>
                <a:ea typeface="Arial"/>
                <a:cs typeface="Arial"/>
                <a:sym typeface="Arial"/>
              </a:rPr>
              <a:t>Nhập số lượng dự án n</a:t>
            </a:r>
          </a:p>
          <a:p>
            <a:pPr marL="798825" lvl="1" indent="-399412" algn="l">
              <a:lnSpc>
                <a:spcPts val="5179"/>
              </a:lnSpc>
              <a:buFont typeface="Arial"/>
              <a:buChar char="•"/>
            </a:pPr>
            <a:r>
              <a:rPr lang="en-US" sz="3699">
                <a:solidFill>
                  <a:srgbClr val="000000"/>
                </a:solidFill>
                <a:latin typeface="Arial"/>
                <a:ea typeface="Arial"/>
                <a:cs typeface="Arial"/>
                <a:sym typeface="Arial"/>
              </a:rPr>
              <a:t>Nhập thông tin của từng dự án</a:t>
            </a:r>
          </a:p>
          <a:p>
            <a:pPr marL="798825" lvl="1" indent="-399412" algn="l">
              <a:lnSpc>
                <a:spcPts val="5179"/>
              </a:lnSpc>
              <a:buFont typeface="Arial"/>
              <a:buChar char="•"/>
            </a:pPr>
            <a:r>
              <a:rPr lang="en-US" sz="3699">
                <a:solidFill>
                  <a:srgbClr val="000000"/>
                </a:solidFill>
                <a:latin typeface="Arial"/>
                <a:ea typeface="Arial"/>
                <a:cs typeface="Arial"/>
                <a:sym typeface="Arial"/>
              </a:rPr>
              <a:t>Lưu các dự án vào danh sách</a:t>
            </a:r>
          </a:p>
          <a:p>
            <a:pPr algn="l">
              <a:lnSpc>
                <a:spcPts val="5179"/>
              </a:lnSpc>
            </a:pPr>
            <a:r>
              <a:rPr lang="en-US" sz="3699">
                <a:solidFill>
                  <a:srgbClr val="000000"/>
                </a:solidFill>
                <a:latin typeface="Arial"/>
                <a:ea typeface="Arial"/>
                <a:cs typeface="Arial"/>
                <a:sym typeface="Arial"/>
              </a:rPr>
              <a:t>Hiển thị danh sách</a:t>
            </a:r>
          </a:p>
          <a:p>
            <a:pPr marL="798825" lvl="1" indent="-399412" algn="l">
              <a:lnSpc>
                <a:spcPts val="5179"/>
              </a:lnSpc>
              <a:buFont typeface="Arial"/>
              <a:buChar char="•"/>
            </a:pPr>
            <a:r>
              <a:rPr lang="en-US" sz="3699">
                <a:solidFill>
                  <a:srgbClr val="000000"/>
                </a:solidFill>
                <a:latin typeface="Arial"/>
                <a:ea typeface="Arial"/>
                <a:cs typeface="Arial"/>
                <a:sym typeface="Arial"/>
              </a:rPr>
              <a:t>Duyệt qua từng phần tử</a:t>
            </a:r>
          </a:p>
          <a:p>
            <a:pPr marL="798825" lvl="1" indent="-399412" algn="l">
              <a:lnSpc>
                <a:spcPts val="5179"/>
              </a:lnSpc>
              <a:buFont typeface="Arial"/>
              <a:buChar char="•"/>
            </a:pPr>
            <a:r>
              <a:rPr lang="en-US" sz="3699">
                <a:solidFill>
                  <a:srgbClr val="000000"/>
                </a:solidFill>
                <a:latin typeface="Arial"/>
                <a:ea typeface="Arial"/>
                <a:cs typeface="Arial"/>
                <a:sym typeface="Arial"/>
              </a:rPr>
              <a:t>In toàn bộ thông tin dự án ra màn hình</a:t>
            </a:r>
          </a:p>
          <a:p>
            <a:pPr algn="l">
              <a:lnSpc>
                <a:spcPts val="5179"/>
              </a:lnSpc>
            </a:pPr>
            <a:r>
              <a:rPr lang="en-US" sz="3699">
                <a:solidFill>
                  <a:srgbClr val="000000"/>
                </a:solidFill>
                <a:latin typeface="Arial"/>
                <a:ea typeface="Arial"/>
                <a:cs typeface="Arial"/>
                <a:sym typeface="Arial"/>
              </a:rPr>
              <a:t>Sơ đồ:</a:t>
            </a:r>
          </a:p>
          <a:p>
            <a:pPr algn="l">
              <a:lnSpc>
                <a:spcPts val="5179"/>
              </a:lnSpc>
              <a:spcBef>
                <a:spcPct val="0"/>
              </a:spcBef>
            </a:pPr>
            <a:r>
              <a:rPr lang="en-US" sz="3699">
                <a:solidFill>
                  <a:srgbClr val="000000"/>
                </a:solidFill>
                <a:latin typeface="Arial"/>
                <a:ea typeface="Arial"/>
                <a:cs typeface="Arial"/>
                <a:sym typeface="Arial"/>
              </a:rPr>
              <a:t>Nhập n → Nhập thông tin → Lưu danh sách → Hiển thị</a:t>
            </a:r>
          </a:p>
        </p:txBody>
      </p:sp>
      <p:sp>
        <p:nvSpPr>
          <p:cNvPr id="11" name="TextBox 11"/>
          <p:cNvSpPr txBox="1"/>
          <p:nvPr/>
        </p:nvSpPr>
        <p:spPr>
          <a:xfrm>
            <a:off x="5029411" y="357015"/>
            <a:ext cx="8464002" cy="863600"/>
          </a:xfrm>
          <a:prstGeom prst="rect">
            <a:avLst/>
          </a:prstGeom>
        </p:spPr>
        <p:txBody>
          <a:bodyPr lIns="0" tIns="0" rIns="0" bIns="0" rtlCol="0" anchor="t">
            <a:spAutoFit/>
          </a:bodyPr>
          <a:lstStyle/>
          <a:p>
            <a:pPr algn="ctr">
              <a:lnSpc>
                <a:spcPts val="7000"/>
              </a:lnSpc>
            </a:pPr>
            <a:r>
              <a:rPr lang="en-US" sz="5000" b="1">
                <a:solidFill>
                  <a:srgbClr val="000000"/>
                </a:solidFill>
                <a:latin typeface="Noto Sans Bold"/>
                <a:ea typeface="Noto Sans Bold"/>
                <a:cs typeface="Noto Sans Bold"/>
                <a:sym typeface="Noto Sans Bold"/>
              </a:rPr>
              <a:t>5.1. NHẬP VÀ HIỂN THỊ</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5400000">
            <a:off x="1373000" y="211431"/>
            <a:ext cx="762503" cy="1630815"/>
          </a:xfrm>
          <a:custGeom>
            <a:avLst/>
            <a:gdLst/>
            <a:ahLst/>
            <a:cxnLst/>
            <a:rect l="l" t="t" r="r" b="b"/>
            <a:pathLst>
              <a:path w="762503" h="1630815">
                <a:moveTo>
                  <a:pt x="0" y="0"/>
                </a:moveTo>
                <a:lnTo>
                  <a:pt x="762503" y="0"/>
                </a:lnTo>
                <a:lnTo>
                  <a:pt x="762503" y="1630816"/>
                </a:lnTo>
                <a:lnTo>
                  <a:pt x="0" y="1630816"/>
                </a:lnTo>
                <a:lnTo>
                  <a:pt x="0" y="0"/>
                </a:lnTo>
                <a:close/>
              </a:path>
            </a:pathLst>
          </a:custGeom>
          <a:blipFill>
            <a:blip>
              <a:alphaModFix amt="47000"/>
              <a:extLst>
                <a:ext uri="{96DAC541-7B7A-43D3-8B79-37D633B846F1}">
                  <asvg:svgBlip xmlns:asvg="http://schemas.microsoft.com/office/drawing/2016/SVG/main" r:embed="rId2"/>
                </a:ext>
              </a:extLst>
            </a:blip>
            <a:stretch>
              <a:fillRect b="-23452"/>
            </a:stretch>
          </a:blipFill>
        </p:spPr>
      </p:sp>
      <p:sp>
        <p:nvSpPr>
          <p:cNvPr id="3" name="Freeform 3"/>
          <p:cNvSpPr/>
          <p:nvPr/>
        </p:nvSpPr>
        <p:spPr>
          <a:xfrm>
            <a:off x="0" y="6972531"/>
            <a:ext cx="7918348" cy="4355091"/>
          </a:xfrm>
          <a:custGeom>
            <a:avLst/>
            <a:gdLst/>
            <a:ahLst/>
            <a:cxnLst/>
            <a:rect l="l" t="t" r="r" b="b"/>
            <a:pathLst>
              <a:path w="7918348" h="4355091">
                <a:moveTo>
                  <a:pt x="0" y="0"/>
                </a:moveTo>
                <a:lnTo>
                  <a:pt x="7918348" y="0"/>
                </a:lnTo>
                <a:lnTo>
                  <a:pt x="7918348" y="4355091"/>
                </a:lnTo>
                <a:lnTo>
                  <a:pt x="0" y="4355091"/>
                </a:lnTo>
                <a:lnTo>
                  <a:pt x="0" y="0"/>
                </a:lnTo>
                <a:close/>
              </a:path>
            </a:pathLst>
          </a:custGeom>
          <a:blipFill>
            <a:blip>
              <a:alphaModFix amt="48000"/>
              <a:extLst>
                <a:ext uri="{96DAC541-7B7A-43D3-8B79-37D633B846F1}">
                  <asvg:svgBlip xmlns:asvg="http://schemas.microsoft.com/office/drawing/2016/SVG/main" r:embed="rId3"/>
                </a:ext>
              </a:extLst>
            </a:blip>
            <a:stretch>
              <a:fillRect/>
            </a:stretch>
          </a:blipFill>
        </p:spPr>
      </p:sp>
      <p:grpSp>
        <p:nvGrpSpPr>
          <p:cNvPr id="4" name="Group 4"/>
          <p:cNvGrpSpPr/>
          <p:nvPr/>
        </p:nvGrpSpPr>
        <p:grpSpPr>
          <a:xfrm>
            <a:off x="14193158" y="6858692"/>
            <a:ext cx="5495314" cy="4582769"/>
            <a:chOff x="0" y="0"/>
            <a:chExt cx="837589" cy="698500"/>
          </a:xfrm>
        </p:grpSpPr>
        <p:sp>
          <p:nvSpPr>
            <p:cNvPr id="5" name="Freeform 5"/>
            <p:cNvSpPr/>
            <p:nvPr/>
          </p:nvSpPr>
          <p:spPr>
            <a:xfrm>
              <a:off x="0" y="0"/>
              <a:ext cx="837589" cy="698500"/>
            </a:xfrm>
            <a:custGeom>
              <a:avLst/>
              <a:gdLst/>
              <a:ahLst/>
              <a:cxnLst/>
              <a:rect l="l" t="t" r="r" b="b"/>
              <a:pathLst>
                <a:path w="837589" h="698500">
                  <a:moveTo>
                    <a:pt x="837589" y="349250"/>
                  </a:moveTo>
                  <a:lnTo>
                    <a:pt x="634389" y="698500"/>
                  </a:lnTo>
                  <a:lnTo>
                    <a:pt x="203200" y="698500"/>
                  </a:lnTo>
                  <a:lnTo>
                    <a:pt x="0" y="349250"/>
                  </a:lnTo>
                  <a:lnTo>
                    <a:pt x="203200" y="0"/>
                  </a:lnTo>
                  <a:lnTo>
                    <a:pt x="634389" y="0"/>
                  </a:lnTo>
                  <a:lnTo>
                    <a:pt x="837589" y="349250"/>
                  </a:lnTo>
                  <a:close/>
                </a:path>
              </a:pathLst>
            </a:custGeom>
            <a:solidFill>
              <a:srgbClr val="0F81CA">
                <a:alpha val="54902"/>
              </a:srgbClr>
            </a:solidFill>
          </p:spPr>
        </p:sp>
        <p:sp>
          <p:nvSpPr>
            <p:cNvPr id="6" name="TextBox 6"/>
            <p:cNvSpPr txBox="1"/>
            <p:nvPr/>
          </p:nvSpPr>
          <p:spPr>
            <a:xfrm>
              <a:off x="114300" y="-47625"/>
              <a:ext cx="608989" cy="746125"/>
            </a:xfrm>
            <a:prstGeom prst="rect">
              <a:avLst/>
            </a:prstGeom>
          </p:spPr>
          <p:txBody>
            <a:bodyPr lIns="50800" tIns="50800" rIns="50800" bIns="50800" rtlCol="0" anchor="ctr"/>
            <a:lstStyle/>
            <a:p>
              <a:pPr algn="ctr">
                <a:lnSpc>
                  <a:spcPts val="2659"/>
                </a:lnSpc>
                <a:spcBef>
                  <a:spcPct val="0"/>
                </a:spcBef>
              </a:pPr>
              <a:endParaRPr/>
            </a:p>
          </p:txBody>
        </p:sp>
      </p:grpSp>
      <p:grpSp>
        <p:nvGrpSpPr>
          <p:cNvPr id="7" name="Group 7"/>
          <p:cNvGrpSpPr/>
          <p:nvPr/>
        </p:nvGrpSpPr>
        <p:grpSpPr>
          <a:xfrm>
            <a:off x="14193158" y="-1645797"/>
            <a:ext cx="5495314" cy="4582769"/>
            <a:chOff x="0" y="0"/>
            <a:chExt cx="837589" cy="698500"/>
          </a:xfrm>
        </p:grpSpPr>
        <p:sp>
          <p:nvSpPr>
            <p:cNvPr id="8" name="Freeform 8"/>
            <p:cNvSpPr/>
            <p:nvPr/>
          </p:nvSpPr>
          <p:spPr>
            <a:xfrm>
              <a:off x="0" y="0"/>
              <a:ext cx="837589" cy="698500"/>
            </a:xfrm>
            <a:custGeom>
              <a:avLst/>
              <a:gdLst/>
              <a:ahLst/>
              <a:cxnLst/>
              <a:rect l="l" t="t" r="r" b="b"/>
              <a:pathLst>
                <a:path w="837589" h="698500">
                  <a:moveTo>
                    <a:pt x="837589" y="349250"/>
                  </a:moveTo>
                  <a:lnTo>
                    <a:pt x="634389" y="698500"/>
                  </a:lnTo>
                  <a:lnTo>
                    <a:pt x="203200" y="698500"/>
                  </a:lnTo>
                  <a:lnTo>
                    <a:pt x="0" y="349250"/>
                  </a:lnTo>
                  <a:lnTo>
                    <a:pt x="203200" y="0"/>
                  </a:lnTo>
                  <a:lnTo>
                    <a:pt x="634389" y="0"/>
                  </a:lnTo>
                  <a:lnTo>
                    <a:pt x="837589" y="349250"/>
                  </a:lnTo>
                  <a:close/>
                </a:path>
              </a:pathLst>
            </a:custGeom>
            <a:solidFill>
              <a:srgbClr val="0F81CA">
                <a:alpha val="53725"/>
              </a:srgbClr>
            </a:solidFill>
          </p:spPr>
        </p:sp>
        <p:sp>
          <p:nvSpPr>
            <p:cNvPr id="9" name="TextBox 9"/>
            <p:cNvSpPr txBox="1"/>
            <p:nvPr/>
          </p:nvSpPr>
          <p:spPr>
            <a:xfrm>
              <a:off x="114300" y="-47625"/>
              <a:ext cx="608989" cy="746125"/>
            </a:xfrm>
            <a:prstGeom prst="rect">
              <a:avLst/>
            </a:prstGeom>
          </p:spPr>
          <p:txBody>
            <a:bodyPr lIns="50800" tIns="50800" rIns="50800" bIns="50800" rtlCol="0" anchor="ctr"/>
            <a:lstStyle/>
            <a:p>
              <a:pPr algn="ctr">
                <a:lnSpc>
                  <a:spcPts val="2659"/>
                </a:lnSpc>
                <a:spcBef>
                  <a:spcPct val="0"/>
                </a:spcBef>
              </a:pPr>
              <a:endParaRPr/>
            </a:p>
          </p:txBody>
        </p:sp>
      </p:grpSp>
      <p:sp>
        <p:nvSpPr>
          <p:cNvPr id="10" name="TextBox 10"/>
          <p:cNvSpPr txBox="1"/>
          <p:nvPr/>
        </p:nvSpPr>
        <p:spPr>
          <a:xfrm>
            <a:off x="2102494" y="1094759"/>
            <a:ext cx="11631707" cy="8903970"/>
          </a:xfrm>
          <a:prstGeom prst="rect">
            <a:avLst/>
          </a:prstGeom>
        </p:spPr>
        <p:txBody>
          <a:bodyPr lIns="0" tIns="0" rIns="0" bIns="0" rtlCol="0" anchor="t">
            <a:spAutoFit/>
          </a:bodyPr>
          <a:lstStyle/>
          <a:p>
            <a:pPr algn="just">
              <a:lnSpc>
                <a:spcPts val="5879"/>
              </a:lnSpc>
            </a:pPr>
            <a:r>
              <a:rPr lang="en-US" sz="4199">
                <a:solidFill>
                  <a:srgbClr val="000000"/>
                </a:solidFill>
                <a:latin typeface="Arial"/>
                <a:ea typeface="Arial"/>
                <a:cs typeface="Arial"/>
                <a:sym typeface="Arial"/>
              </a:rPr>
              <a:t>Yêu cầu:</a:t>
            </a:r>
          </a:p>
          <a:p>
            <a:pPr algn="just">
              <a:lnSpc>
                <a:spcPts val="5879"/>
              </a:lnSpc>
            </a:pPr>
            <a:r>
              <a:rPr lang="en-US" sz="4199">
                <a:solidFill>
                  <a:srgbClr val="000000"/>
                </a:solidFill>
                <a:latin typeface="Arial"/>
                <a:ea typeface="Arial"/>
                <a:cs typeface="Arial"/>
                <a:sym typeface="Arial"/>
              </a:rPr>
              <a:t>Sắp xếp danh sách theo ngân sách giảm dần.</a:t>
            </a:r>
          </a:p>
          <a:p>
            <a:pPr algn="just">
              <a:lnSpc>
                <a:spcPts val="5879"/>
              </a:lnSpc>
            </a:pPr>
            <a:r>
              <a:rPr lang="en-US" sz="4199">
                <a:solidFill>
                  <a:srgbClr val="000000"/>
                </a:solidFill>
                <a:latin typeface="Arial"/>
                <a:ea typeface="Arial"/>
                <a:cs typeface="Arial"/>
                <a:sym typeface="Arial"/>
              </a:rPr>
              <a:t>Ví dụ:</a:t>
            </a:r>
          </a:p>
          <a:p>
            <a:pPr algn="just">
              <a:lnSpc>
                <a:spcPts val="5879"/>
              </a:lnSpc>
            </a:pPr>
            <a:r>
              <a:rPr lang="en-US" sz="4199">
                <a:solidFill>
                  <a:srgbClr val="000000"/>
                </a:solidFill>
                <a:latin typeface="Arial"/>
                <a:ea typeface="Arial"/>
                <a:cs typeface="Arial"/>
                <a:sym typeface="Arial"/>
              </a:rPr>
              <a:t>Dự ánNgân sách</a:t>
            </a:r>
          </a:p>
          <a:p>
            <a:pPr algn="just">
              <a:lnSpc>
                <a:spcPts val="5879"/>
              </a:lnSpc>
            </a:pPr>
            <a:r>
              <a:rPr lang="en-US" sz="4199">
                <a:solidFill>
                  <a:srgbClr val="000000"/>
                </a:solidFill>
                <a:latin typeface="Arial"/>
                <a:ea typeface="Arial"/>
                <a:cs typeface="Arial"/>
                <a:sym typeface="Arial"/>
              </a:rPr>
              <a:t>DA03</a:t>
            </a:r>
          </a:p>
          <a:p>
            <a:pPr algn="just">
              <a:lnSpc>
                <a:spcPts val="5879"/>
              </a:lnSpc>
            </a:pPr>
            <a:r>
              <a:rPr lang="en-US" sz="4199">
                <a:solidFill>
                  <a:srgbClr val="000000"/>
                </a:solidFill>
                <a:latin typeface="Arial"/>
                <a:ea typeface="Arial"/>
                <a:cs typeface="Arial"/>
                <a:sym typeface="Arial"/>
              </a:rPr>
              <a:t>500 triệu</a:t>
            </a:r>
          </a:p>
          <a:p>
            <a:pPr algn="just">
              <a:lnSpc>
                <a:spcPts val="5879"/>
              </a:lnSpc>
            </a:pPr>
            <a:r>
              <a:rPr lang="en-US" sz="4199">
                <a:solidFill>
                  <a:srgbClr val="000000"/>
                </a:solidFill>
                <a:latin typeface="Arial"/>
                <a:ea typeface="Arial"/>
                <a:cs typeface="Arial"/>
                <a:sym typeface="Arial"/>
              </a:rPr>
              <a:t>DA01</a:t>
            </a:r>
          </a:p>
          <a:p>
            <a:pPr algn="just">
              <a:lnSpc>
                <a:spcPts val="5879"/>
              </a:lnSpc>
            </a:pPr>
            <a:r>
              <a:rPr lang="en-US" sz="4199">
                <a:solidFill>
                  <a:srgbClr val="000000"/>
                </a:solidFill>
                <a:latin typeface="Arial"/>
                <a:ea typeface="Arial"/>
                <a:cs typeface="Arial"/>
                <a:sym typeface="Arial"/>
              </a:rPr>
              <a:t>300 triệu</a:t>
            </a:r>
          </a:p>
          <a:p>
            <a:pPr algn="just">
              <a:lnSpc>
                <a:spcPts val="5879"/>
              </a:lnSpc>
            </a:pPr>
            <a:r>
              <a:rPr lang="en-US" sz="4199">
                <a:solidFill>
                  <a:srgbClr val="000000"/>
                </a:solidFill>
                <a:latin typeface="Arial"/>
                <a:ea typeface="Arial"/>
                <a:cs typeface="Arial"/>
                <a:sym typeface="Arial"/>
              </a:rPr>
              <a:t>DA02</a:t>
            </a:r>
          </a:p>
          <a:p>
            <a:pPr algn="just">
              <a:lnSpc>
                <a:spcPts val="5879"/>
              </a:lnSpc>
            </a:pPr>
            <a:r>
              <a:rPr lang="en-US" sz="4199">
                <a:solidFill>
                  <a:srgbClr val="000000"/>
                </a:solidFill>
                <a:latin typeface="Arial"/>
                <a:ea typeface="Arial"/>
                <a:cs typeface="Arial"/>
                <a:sym typeface="Arial"/>
              </a:rPr>
              <a:t>150 triệu</a:t>
            </a:r>
          </a:p>
          <a:p>
            <a:pPr algn="just">
              <a:lnSpc>
                <a:spcPts val="5879"/>
              </a:lnSpc>
              <a:spcBef>
                <a:spcPct val="0"/>
              </a:spcBef>
            </a:pPr>
            <a:r>
              <a:rPr lang="en-US" sz="4199">
                <a:solidFill>
                  <a:srgbClr val="000000"/>
                </a:solidFill>
                <a:latin typeface="Arial"/>
                <a:ea typeface="Arial"/>
                <a:cs typeface="Arial"/>
                <a:sym typeface="Arial"/>
              </a:rPr>
              <a:t>→ Dự án có ngân sách lớn hơn được đưa lên trước.</a:t>
            </a:r>
          </a:p>
        </p:txBody>
      </p:sp>
      <p:sp>
        <p:nvSpPr>
          <p:cNvPr id="11" name="TextBox 11"/>
          <p:cNvSpPr txBox="1"/>
          <p:nvPr/>
        </p:nvSpPr>
        <p:spPr>
          <a:xfrm>
            <a:off x="6353658" y="302914"/>
            <a:ext cx="5580684" cy="887095"/>
          </a:xfrm>
          <a:prstGeom prst="rect">
            <a:avLst/>
          </a:prstGeom>
        </p:spPr>
        <p:txBody>
          <a:bodyPr lIns="0" tIns="0" rIns="0" bIns="0" rtlCol="0" anchor="t">
            <a:spAutoFit/>
          </a:bodyPr>
          <a:lstStyle/>
          <a:p>
            <a:pPr algn="ctr">
              <a:lnSpc>
                <a:spcPts val="7279"/>
              </a:lnSpc>
            </a:pPr>
            <a:r>
              <a:rPr lang="en-US" sz="5199" b="1">
                <a:solidFill>
                  <a:srgbClr val="000000"/>
                </a:solidFill>
                <a:latin typeface="Noto Sans Bold"/>
                <a:ea typeface="Noto Sans Bold"/>
                <a:cs typeface="Noto Sans Bold"/>
                <a:sym typeface="Noto Sans Bold"/>
              </a:rPr>
              <a:t>5.2. SẮP XẾP</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028700" y="1492003"/>
            <a:ext cx="14734751" cy="8442326"/>
          </a:xfrm>
          <a:prstGeom prst="rect">
            <a:avLst/>
          </a:prstGeom>
        </p:spPr>
        <p:txBody>
          <a:bodyPr lIns="0" tIns="0" rIns="0" bIns="0" rtlCol="0" anchor="t">
            <a:spAutoFit/>
          </a:bodyPr>
          <a:lstStyle/>
          <a:p>
            <a:pPr algn="just">
              <a:lnSpc>
                <a:spcPts val="5599"/>
              </a:lnSpc>
            </a:pPr>
            <a:r>
              <a:rPr lang="en-US" sz="3999">
                <a:solidFill>
                  <a:srgbClr val="000000"/>
                </a:solidFill>
                <a:latin typeface="Arial"/>
                <a:ea typeface="Arial"/>
                <a:cs typeface="Arial"/>
                <a:sym typeface="Arial"/>
              </a:rPr>
              <a:t>Cho phép tìm kiếm dự án theo:</a:t>
            </a:r>
          </a:p>
          <a:p>
            <a:pPr marL="863593" lvl="1" indent="-431796" algn="just">
              <a:lnSpc>
                <a:spcPts val="5599"/>
              </a:lnSpc>
              <a:buFont typeface="Arial"/>
              <a:buChar char="•"/>
            </a:pPr>
            <a:r>
              <a:rPr lang="en-US" sz="3999">
                <a:solidFill>
                  <a:srgbClr val="000000"/>
                </a:solidFill>
                <a:latin typeface="Arial"/>
                <a:ea typeface="Arial"/>
                <a:cs typeface="Arial"/>
                <a:sym typeface="Arial"/>
              </a:rPr>
              <a:t>Mã dự án</a:t>
            </a:r>
          </a:p>
          <a:p>
            <a:pPr marL="863593" lvl="1" indent="-431796" algn="just">
              <a:lnSpc>
                <a:spcPts val="5599"/>
              </a:lnSpc>
              <a:buFont typeface="Arial"/>
              <a:buChar char="•"/>
            </a:pPr>
            <a:r>
              <a:rPr lang="en-US" sz="3999">
                <a:solidFill>
                  <a:srgbClr val="000000"/>
                </a:solidFill>
                <a:latin typeface="Arial"/>
                <a:ea typeface="Arial"/>
                <a:cs typeface="Arial"/>
                <a:sym typeface="Arial"/>
              </a:rPr>
              <a:t>Tên dự án</a:t>
            </a:r>
          </a:p>
          <a:p>
            <a:pPr algn="just">
              <a:lnSpc>
                <a:spcPts val="5599"/>
              </a:lnSpc>
            </a:pPr>
            <a:r>
              <a:rPr lang="en-US" sz="3999">
                <a:solidFill>
                  <a:srgbClr val="000000"/>
                </a:solidFill>
                <a:latin typeface="Arial"/>
                <a:ea typeface="Arial"/>
                <a:cs typeface="Arial"/>
                <a:sym typeface="Arial"/>
              </a:rPr>
              <a:t>Quy trình:</a:t>
            </a:r>
          </a:p>
          <a:p>
            <a:pPr algn="just">
              <a:lnSpc>
                <a:spcPts val="5599"/>
              </a:lnSpc>
            </a:pPr>
            <a:r>
              <a:rPr lang="en-US" sz="3999">
                <a:solidFill>
                  <a:srgbClr val="000000"/>
                </a:solidFill>
                <a:latin typeface="Arial"/>
                <a:ea typeface="Arial"/>
                <a:cs typeface="Arial"/>
                <a:sym typeface="Arial"/>
              </a:rPr>
              <a:t>Nhập mã/tên</a:t>
            </a:r>
          </a:p>
          <a:p>
            <a:pPr algn="just">
              <a:lnSpc>
                <a:spcPts val="5599"/>
              </a:lnSpc>
            </a:pPr>
            <a:r>
              <a:rPr lang="en-US" sz="3999">
                <a:solidFill>
                  <a:srgbClr val="000000"/>
                </a:solidFill>
                <a:latin typeface="Arial"/>
                <a:ea typeface="Arial"/>
                <a:cs typeface="Arial"/>
                <a:sym typeface="Arial"/>
              </a:rPr>
              <a:t> ↓</a:t>
            </a:r>
          </a:p>
          <a:p>
            <a:pPr algn="just">
              <a:lnSpc>
                <a:spcPts val="5599"/>
              </a:lnSpc>
            </a:pPr>
            <a:r>
              <a:rPr lang="en-US" sz="3999">
                <a:solidFill>
                  <a:srgbClr val="000000"/>
                </a:solidFill>
                <a:latin typeface="Arial"/>
                <a:ea typeface="Arial"/>
                <a:cs typeface="Arial"/>
                <a:sym typeface="Arial"/>
              </a:rPr>
              <a:t>Duyệt danh sách</a:t>
            </a:r>
          </a:p>
          <a:p>
            <a:pPr algn="just">
              <a:lnSpc>
                <a:spcPts val="5599"/>
              </a:lnSpc>
            </a:pPr>
            <a:r>
              <a:rPr lang="en-US" sz="3999">
                <a:solidFill>
                  <a:srgbClr val="000000"/>
                </a:solidFill>
                <a:latin typeface="Arial"/>
                <a:ea typeface="Arial"/>
                <a:cs typeface="Arial"/>
                <a:sym typeface="Arial"/>
              </a:rPr>
              <a:t> ↓</a:t>
            </a:r>
          </a:p>
          <a:p>
            <a:pPr algn="just">
              <a:lnSpc>
                <a:spcPts val="5599"/>
              </a:lnSpc>
            </a:pPr>
            <a:r>
              <a:rPr lang="en-US" sz="3999">
                <a:solidFill>
                  <a:srgbClr val="000000"/>
                </a:solidFill>
                <a:latin typeface="Arial"/>
                <a:ea typeface="Arial"/>
                <a:cs typeface="Arial"/>
                <a:sym typeface="Arial"/>
              </a:rPr>
              <a:t>So sánh dữ liệu</a:t>
            </a:r>
          </a:p>
          <a:p>
            <a:pPr algn="just">
              <a:lnSpc>
                <a:spcPts val="5599"/>
              </a:lnSpc>
            </a:pPr>
            <a:r>
              <a:rPr lang="en-US" sz="3999">
                <a:solidFill>
                  <a:srgbClr val="000000"/>
                </a:solidFill>
                <a:latin typeface="Arial"/>
                <a:ea typeface="Arial"/>
                <a:cs typeface="Arial"/>
                <a:sym typeface="Arial"/>
              </a:rPr>
              <a:t> ↓</a:t>
            </a:r>
          </a:p>
          <a:p>
            <a:pPr algn="just">
              <a:lnSpc>
                <a:spcPts val="5599"/>
              </a:lnSpc>
            </a:pPr>
            <a:r>
              <a:rPr lang="en-US" sz="3999">
                <a:solidFill>
                  <a:srgbClr val="000000"/>
                </a:solidFill>
                <a:latin typeface="Arial"/>
                <a:ea typeface="Arial"/>
                <a:cs typeface="Arial"/>
                <a:sym typeface="Arial"/>
              </a:rPr>
              <a:t>Tìm thấy → Hiển thị dự án</a:t>
            </a:r>
          </a:p>
          <a:p>
            <a:pPr algn="just">
              <a:lnSpc>
                <a:spcPts val="5599"/>
              </a:lnSpc>
              <a:spcBef>
                <a:spcPct val="0"/>
              </a:spcBef>
            </a:pPr>
            <a:r>
              <a:rPr lang="en-US" sz="3999">
                <a:solidFill>
                  <a:srgbClr val="000000"/>
                </a:solidFill>
                <a:latin typeface="Arial"/>
                <a:ea typeface="Arial"/>
                <a:cs typeface="Arial"/>
                <a:sym typeface="Arial"/>
              </a:rPr>
              <a:t>Nếu không tìm thấy → thông báo “Không tìm thấy dự án”.</a:t>
            </a:r>
          </a:p>
        </p:txBody>
      </p:sp>
      <p:sp>
        <p:nvSpPr>
          <p:cNvPr id="3" name="Freeform 3"/>
          <p:cNvSpPr/>
          <p:nvPr/>
        </p:nvSpPr>
        <p:spPr>
          <a:xfrm>
            <a:off x="7728171" y="2780288"/>
            <a:ext cx="9869522" cy="3726091"/>
          </a:xfrm>
          <a:custGeom>
            <a:avLst/>
            <a:gdLst/>
            <a:ahLst/>
            <a:cxnLst/>
            <a:rect l="l" t="t" r="r" b="b"/>
            <a:pathLst>
              <a:path w="9869522" h="3726091">
                <a:moveTo>
                  <a:pt x="0" y="0"/>
                </a:moveTo>
                <a:lnTo>
                  <a:pt x="9869522" y="0"/>
                </a:lnTo>
                <a:lnTo>
                  <a:pt x="9869522" y="3726091"/>
                </a:lnTo>
                <a:lnTo>
                  <a:pt x="0" y="3726091"/>
                </a:lnTo>
                <a:lnTo>
                  <a:pt x="0" y="0"/>
                </a:lnTo>
                <a:close/>
              </a:path>
            </a:pathLst>
          </a:custGeom>
          <a:blipFill>
            <a:blip r:embed="rId2"/>
            <a:stretch>
              <a:fillRect/>
            </a:stretch>
          </a:blipFill>
        </p:spPr>
      </p:sp>
      <p:sp>
        <p:nvSpPr>
          <p:cNvPr id="4" name="TextBox 4"/>
          <p:cNvSpPr txBox="1"/>
          <p:nvPr/>
        </p:nvSpPr>
        <p:spPr>
          <a:xfrm>
            <a:off x="6550989" y="528002"/>
            <a:ext cx="4960788" cy="863600"/>
          </a:xfrm>
          <a:prstGeom prst="rect">
            <a:avLst/>
          </a:prstGeom>
        </p:spPr>
        <p:txBody>
          <a:bodyPr lIns="0" tIns="0" rIns="0" bIns="0" rtlCol="0" anchor="t">
            <a:spAutoFit/>
          </a:bodyPr>
          <a:lstStyle/>
          <a:p>
            <a:pPr algn="ctr">
              <a:lnSpc>
                <a:spcPts val="7000"/>
              </a:lnSpc>
            </a:pPr>
            <a:r>
              <a:rPr lang="en-US" sz="5000" b="1">
                <a:solidFill>
                  <a:srgbClr val="000000"/>
                </a:solidFill>
                <a:latin typeface="Noto Sans Bold"/>
                <a:ea typeface="Noto Sans Bold"/>
                <a:cs typeface="Noto Sans Bold"/>
                <a:sym typeface="Noto Sans Bold"/>
              </a:rPr>
              <a:t>5.3. TÌM KIẾM</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5400000">
            <a:off x="1169637" y="213292"/>
            <a:ext cx="762503" cy="1630815"/>
          </a:xfrm>
          <a:custGeom>
            <a:avLst/>
            <a:gdLst/>
            <a:ahLst/>
            <a:cxnLst/>
            <a:rect l="l" t="t" r="r" b="b"/>
            <a:pathLst>
              <a:path w="762503" h="1630815">
                <a:moveTo>
                  <a:pt x="0" y="0"/>
                </a:moveTo>
                <a:lnTo>
                  <a:pt x="762503" y="0"/>
                </a:lnTo>
                <a:lnTo>
                  <a:pt x="762503" y="1630816"/>
                </a:lnTo>
                <a:lnTo>
                  <a:pt x="0" y="1630816"/>
                </a:lnTo>
                <a:lnTo>
                  <a:pt x="0" y="0"/>
                </a:lnTo>
                <a:close/>
              </a:path>
            </a:pathLst>
          </a:custGeom>
          <a:blipFill>
            <a:blip>
              <a:alphaModFix amt="52000"/>
              <a:extLst>
                <a:ext uri="{96DAC541-7B7A-43D3-8B79-37D633B846F1}">
                  <asvg:svgBlip xmlns:asvg="http://schemas.microsoft.com/office/drawing/2016/SVG/main" r:embed="rId2"/>
                </a:ext>
              </a:extLst>
            </a:blip>
            <a:stretch>
              <a:fillRect b="-23452"/>
            </a:stretch>
          </a:blipFill>
        </p:spPr>
      </p:sp>
      <p:grpSp>
        <p:nvGrpSpPr>
          <p:cNvPr id="3" name="Group 3"/>
          <p:cNvGrpSpPr/>
          <p:nvPr/>
        </p:nvGrpSpPr>
        <p:grpSpPr>
          <a:xfrm>
            <a:off x="-405586" y="8059481"/>
            <a:ext cx="4499387" cy="6056414"/>
            <a:chOff x="0" y="0"/>
            <a:chExt cx="5999183" cy="8075218"/>
          </a:xfrm>
        </p:grpSpPr>
        <p:grpSp>
          <p:nvGrpSpPr>
            <p:cNvPr id="4" name="Group 4"/>
            <p:cNvGrpSpPr/>
            <p:nvPr/>
          </p:nvGrpSpPr>
          <p:grpSpPr>
            <a:xfrm>
              <a:off x="0" y="0"/>
              <a:ext cx="5999183" cy="6995999"/>
              <a:chOff x="0" y="0"/>
              <a:chExt cx="546542" cy="637355"/>
            </a:xfrm>
          </p:grpSpPr>
          <p:sp>
            <p:nvSpPr>
              <p:cNvPr id="5" name="Freeform 5"/>
              <p:cNvSpPr/>
              <p:nvPr/>
            </p:nvSpPr>
            <p:spPr>
              <a:xfrm>
                <a:off x="0" y="0"/>
                <a:ext cx="546542" cy="637355"/>
              </a:xfrm>
              <a:custGeom>
                <a:avLst/>
                <a:gdLst/>
                <a:ahLst/>
                <a:cxnLst/>
                <a:rect l="l" t="t" r="r" b="b"/>
                <a:pathLst>
                  <a:path w="546542" h="637355">
                    <a:moveTo>
                      <a:pt x="546542" y="318678"/>
                    </a:moveTo>
                    <a:lnTo>
                      <a:pt x="343342" y="637355"/>
                    </a:lnTo>
                    <a:lnTo>
                      <a:pt x="203200" y="637355"/>
                    </a:lnTo>
                    <a:lnTo>
                      <a:pt x="0" y="318678"/>
                    </a:lnTo>
                    <a:lnTo>
                      <a:pt x="203200" y="0"/>
                    </a:lnTo>
                    <a:lnTo>
                      <a:pt x="343342" y="0"/>
                    </a:lnTo>
                    <a:lnTo>
                      <a:pt x="546542" y="318678"/>
                    </a:lnTo>
                    <a:close/>
                  </a:path>
                </a:pathLst>
              </a:custGeom>
              <a:solidFill>
                <a:srgbClr val="0F81CA"/>
              </a:solidFill>
            </p:spPr>
          </p:sp>
          <p:sp>
            <p:nvSpPr>
              <p:cNvPr id="6" name="TextBox 6"/>
              <p:cNvSpPr txBox="1"/>
              <p:nvPr/>
            </p:nvSpPr>
            <p:spPr>
              <a:xfrm>
                <a:off x="114300" y="-38100"/>
                <a:ext cx="317942" cy="675455"/>
              </a:xfrm>
              <a:prstGeom prst="rect">
                <a:avLst/>
              </a:prstGeom>
            </p:spPr>
            <p:txBody>
              <a:bodyPr lIns="50800" tIns="50800" rIns="50800" bIns="50800" rtlCol="0" anchor="ctr"/>
              <a:lstStyle/>
              <a:p>
                <a:pPr algn="ctr">
                  <a:lnSpc>
                    <a:spcPts val="2660"/>
                  </a:lnSpc>
                  <a:spcBef>
                    <a:spcPct val="0"/>
                  </a:spcBef>
                </a:pPr>
                <a:endParaRPr/>
              </a:p>
            </p:txBody>
          </p:sp>
        </p:grpSp>
        <p:grpSp>
          <p:nvGrpSpPr>
            <p:cNvPr id="7" name="Group 7"/>
            <p:cNvGrpSpPr/>
            <p:nvPr/>
          </p:nvGrpSpPr>
          <p:grpSpPr>
            <a:xfrm>
              <a:off x="177137" y="2100215"/>
              <a:ext cx="5123662" cy="5975003"/>
              <a:chOff x="0" y="0"/>
              <a:chExt cx="546542" cy="637355"/>
            </a:xfrm>
          </p:grpSpPr>
          <p:sp>
            <p:nvSpPr>
              <p:cNvPr id="8" name="Freeform 8"/>
              <p:cNvSpPr/>
              <p:nvPr/>
            </p:nvSpPr>
            <p:spPr>
              <a:xfrm>
                <a:off x="0" y="0"/>
                <a:ext cx="546542" cy="637355"/>
              </a:xfrm>
              <a:custGeom>
                <a:avLst/>
                <a:gdLst/>
                <a:ahLst/>
                <a:cxnLst/>
                <a:rect l="l" t="t" r="r" b="b"/>
                <a:pathLst>
                  <a:path w="546542" h="637355">
                    <a:moveTo>
                      <a:pt x="546542" y="318678"/>
                    </a:moveTo>
                    <a:lnTo>
                      <a:pt x="343342" y="637355"/>
                    </a:lnTo>
                    <a:lnTo>
                      <a:pt x="203200" y="637355"/>
                    </a:lnTo>
                    <a:lnTo>
                      <a:pt x="0" y="318678"/>
                    </a:lnTo>
                    <a:lnTo>
                      <a:pt x="203200" y="0"/>
                    </a:lnTo>
                    <a:lnTo>
                      <a:pt x="343342" y="0"/>
                    </a:lnTo>
                    <a:lnTo>
                      <a:pt x="546542" y="318678"/>
                    </a:lnTo>
                    <a:close/>
                  </a:path>
                </a:pathLst>
              </a:custGeom>
              <a:solidFill>
                <a:srgbClr val="023D63"/>
              </a:solidFill>
            </p:spPr>
          </p:sp>
          <p:sp>
            <p:nvSpPr>
              <p:cNvPr id="9" name="TextBox 9"/>
              <p:cNvSpPr txBox="1"/>
              <p:nvPr/>
            </p:nvSpPr>
            <p:spPr>
              <a:xfrm>
                <a:off x="114300" y="-38100"/>
                <a:ext cx="317942" cy="675455"/>
              </a:xfrm>
              <a:prstGeom prst="rect">
                <a:avLst/>
              </a:prstGeom>
            </p:spPr>
            <p:txBody>
              <a:bodyPr lIns="50800" tIns="50800" rIns="50800" bIns="50800" rtlCol="0" anchor="ctr"/>
              <a:lstStyle/>
              <a:p>
                <a:pPr algn="ctr">
                  <a:lnSpc>
                    <a:spcPts val="2660"/>
                  </a:lnSpc>
                  <a:spcBef>
                    <a:spcPct val="0"/>
                  </a:spcBef>
                </a:pPr>
                <a:endParaRPr/>
              </a:p>
            </p:txBody>
          </p:sp>
        </p:grpSp>
      </p:grpSp>
      <p:sp>
        <p:nvSpPr>
          <p:cNvPr id="10" name="TextBox 10"/>
          <p:cNvSpPr txBox="1"/>
          <p:nvPr/>
        </p:nvSpPr>
        <p:spPr>
          <a:xfrm>
            <a:off x="1550889" y="1654204"/>
            <a:ext cx="11873632" cy="5747386"/>
          </a:xfrm>
          <a:prstGeom prst="rect">
            <a:avLst/>
          </a:prstGeom>
        </p:spPr>
        <p:txBody>
          <a:bodyPr lIns="0" tIns="0" rIns="0" bIns="0" rtlCol="0" anchor="t">
            <a:spAutoFit/>
          </a:bodyPr>
          <a:lstStyle/>
          <a:p>
            <a:pPr algn="just">
              <a:lnSpc>
                <a:spcPts val="5039"/>
              </a:lnSpc>
            </a:pPr>
            <a:r>
              <a:rPr lang="en-US" sz="3599" dirty="0" err="1">
                <a:solidFill>
                  <a:srgbClr val="000000"/>
                </a:solidFill>
                <a:latin typeface="Arial"/>
                <a:ea typeface="Arial"/>
                <a:cs typeface="Arial"/>
                <a:sym typeface="Arial"/>
              </a:rPr>
              <a:t>Yêu</a:t>
            </a:r>
            <a:r>
              <a:rPr lang="en-US" sz="3599" dirty="0">
                <a:solidFill>
                  <a:srgbClr val="000000"/>
                </a:solidFill>
                <a:latin typeface="Arial"/>
                <a:ea typeface="Arial"/>
                <a:cs typeface="Arial"/>
                <a:sym typeface="Arial"/>
              </a:rPr>
              <a:t> </a:t>
            </a:r>
            <a:r>
              <a:rPr lang="en-US" sz="3599" dirty="0" err="1">
                <a:solidFill>
                  <a:srgbClr val="000000"/>
                </a:solidFill>
                <a:latin typeface="Arial"/>
                <a:ea typeface="Arial"/>
                <a:cs typeface="Arial"/>
                <a:sym typeface="Arial"/>
              </a:rPr>
              <a:t>cầu</a:t>
            </a:r>
            <a:r>
              <a:rPr lang="en-US" sz="3599" dirty="0">
                <a:solidFill>
                  <a:srgbClr val="000000"/>
                </a:solidFill>
                <a:latin typeface="Arial"/>
                <a:ea typeface="Arial"/>
                <a:cs typeface="Arial"/>
                <a:sym typeface="Arial"/>
              </a:rPr>
              <a:t>:</a:t>
            </a:r>
          </a:p>
          <a:p>
            <a:pPr algn="just">
              <a:lnSpc>
                <a:spcPts val="5039"/>
              </a:lnSpc>
            </a:pPr>
            <a:r>
              <a:rPr lang="en-US" sz="3599" dirty="0" err="1">
                <a:solidFill>
                  <a:srgbClr val="000000"/>
                </a:solidFill>
                <a:latin typeface="Arial"/>
                <a:ea typeface="Arial"/>
                <a:cs typeface="Arial"/>
                <a:sym typeface="Arial"/>
              </a:rPr>
              <a:t>Bổ</a:t>
            </a:r>
            <a:r>
              <a:rPr lang="en-US" sz="3599" dirty="0">
                <a:solidFill>
                  <a:srgbClr val="000000"/>
                </a:solidFill>
                <a:latin typeface="Arial"/>
                <a:ea typeface="Arial"/>
                <a:cs typeface="Arial"/>
                <a:sym typeface="Arial"/>
              </a:rPr>
              <a:t> sung 1 </a:t>
            </a:r>
            <a:r>
              <a:rPr lang="en-US" sz="3599" dirty="0" err="1">
                <a:solidFill>
                  <a:srgbClr val="000000"/>
                </a:solidFill>
                <a:latin typeface="Arial"/>
                <a:ea typeface="Arial"/>
                <a:cs typeface="Arial"/>
                <a:sym typeface="Arial"/>
              </a:rPr>
              <a:t>dự</a:t>
            </a:r>
            <a:r>
              <a:rPr lang="en-US" sz="3599" dirty="0">
                <a:solidFill>
                  <a:srgbClr val="000000"/>
                </a:solidFill>
                <a:latin typeface="Arial"/>
                <a:ea typeface="Arial"/>
                <a:cs typeface="Arial"/>
                <a:sym typeface="Arial"/>
              </a:rPr>
              <a:t> </a:t>
            </a:r>
            <a:r>
              <a:rPr lang="en-US" sz="3599" dirty="0" err="1">
                <a:solidFill>
                  <a:srgbClr val="000000"/>
                </a:solidFill>
                <a:latin typeface="Arial"/>
                <a:ea typeface="Arial"/>
                <a:cs typeface="Arial"/>
                <a:sym typeface="Arial"/>
              </a:rPr>
              <a:t>án</a:t>
            </a:r>
            <a:r>
              <a:rPr lang="en-US" sz="3599" dirty="0">
                <a:solidFill>
                  <a:srgbClr val="000000"/>
                </a:solidFill>
                <a:latin typeface="Arial"/>
                <a:ea typeface="Arial"/>
                <a:cs typeface="Arial"/>
                <a:sym typeface="Arial"/>
              </a:rPr>
              <a:t> </a:t>
            </a:r>
            <a:r>
              <a:rPr lang="en-US" sz="3599" dirty="0" err="1">
                <a:solidFill>
                  <a:srgbClr val="000000"/>
                </a:solidFill>
                <a:latin typeface="Arial"/>
                <a:ea typeface="Arial"/>
                <a:cs typeface="Arial"/>
                <a:sym typeface="Arial"/>
              </a:rPr>
              <a:t>vào</a:t>
            </a:r>
            <a:r>
              <a:rPr lang="en-US" sz="3599" dirty="0">
                <a:solidFill>
                  <a:srgbClr val="000000"/>
                </a:solidFill>
                <a:latin typeface="Arial"/>
                <a:ea typeface="Arial"/>
                <a:cs typeface="Arial"/>
                <a:sym typeface="Arial"/>
              </a:rPr>
              <a:t> </a:t>
            </a:r>
            <a:r>
              <a:rPr lang="en-US" sz="3599" dirty="0" err="1">
                <a:solidFill>
                  <a:srgbClr val="000000"/>
                </a:solidFill>
                <a:latin typeface="Arial"/>
                <a:ea typeface="Arial"/>
                <a:cs typeface="Arial"/>
                <a:sym typeface="Arial"/>
              </a:rPr>
              <a:t>một</a:t>
            </a:r>
            <a:r>
              <a:rPr lang="en-US" sz="3599" dirty="0">
                <a:solidFill>
                  <a:srgbClr val="000000"/>
                </a:solidFill>
                <a:latin typeface="Arial"/>
                <a:ea typeface="Arial"/>
                <a:cs typeface="Arial"/>
                <a:sym typeface="Arial"/>
              </a:rPr>
              <a:t> </a:t>
            </a:r>
            <a:r>
              <a:rPr lang="en-US" sz="3599" dirty="0" err="1">
                <a:solidFill>
                  <a:srgbClr val="000000"/>
                </a:solidFill>
                <a:latin typeface="Arial"/>
                <a:ea typeface="Arial"/>
                <a:cs typeface="Arial"/>
                <a:sym typeface="Arial"/>
              </a:rPr>
              <a:t>vị</a:t>
            </a:r>
            <a:r>
              <a:rPr lang="en-US" sz="3599" dirty="0">
                <a:solidFill>
                  <a:srgbClr val="000000"/>
                </a:solidFill>
                <a:latin typeface="Arial"/>
                <a:ea typeface="Arial"/>
                <a:cs typeface="Arial"/>
                <a:sym typeface="Arial"/>
              </a:rPr>
              <a:t> </a:t>
            </a:r>
            <a:r>
              <a:rPr lang="en-US" sz="3599" dirty="0" err="1">
                <a:solidFill>
                  <a:srgbClr val="000000"/>
                </a:solidFill>
                <a:latin typeface="Arial"/>
                <a:ea typeface="Arial"/>
                <a:cs typeface="Arial"/>
                <a:sym typeface="Arial"/>
              </a:rPr>
              <a:t>trí</a:t>
            </a:r>
            <a:r>
              <a:rPr lang="en-US" sz="3599" dirty="0">
                <a:solidFill>
                  <a:srgbClr val="000000"/>
                </a:solidFill>
                <a:latin typeface="Arial"/>
                <a:ea typeface="Arial"/>
                <a:cs typeface="Arial"/>
                <a:sym typeface="Arial"/>
              </a:rPr>
              <a:t> </a:t>
            </a:r>
            <a:r>
              <a:rPr lang="en-US" sz="3599" dirty="0" err="1">
                <a:solidFill>
                  <a:srgbClr val="000000"/>
                </a:solidFill>
                <a:latin typeface="Arial"/>
                <a:ea typeface="Arial"/>
                <a:cs typeface="Arial"/>
                <a:sym typeface="Arial"/>
              </a:rPr>
              <a:t>cho</a:t>
            </a:r>
            <a:r>
              <a:rPr lang="en-US" sz="3599" dirty="0">
                <a:solidFill>
                  <a:srgbClr val="000000"/>
                </a:solidFill>
                <a:latin typeface="Arial"/>
                <a:ea typeface="Arial"/>
                <a:cs typeface="Arial"/>
                <a:sym typeface="Arial"/>
              </a:rPr>
              <a:t> </a:t>
            </a:r>
            <a:r>
              <a:rPr lang="en-US" sz="3599" dirty="0" err="1">
                <a:solidFill>
                  <a:srgbClr val="000000"/>
                </a:solidFill>
                <a:latin typeface="Arial"/>
                <a:ea typeface="Arial"/>
                <a:cs typeface="Arial"/>
                <a:sym typeface="Arial"/>
              </a:rPr>
              <a:t>trước</a:t>
            </a:r>
            <a:r>
              <a:rPr lang="en-US" sz="3599" dirty="0">
                <a:solidFill>
                  <a:srgbClr val="000000"/>
                </a:solidFill>
                <a:latin typeface="Arial"/>
                <a:ea typeface="Arial"/>
                <a:cs typeface="Arial"/>
                <a:sym typeface="Arial"/>
              </a:rPr>
              <a:t> </a:t>
            </a:r>
            <a:r>
              <a:rPr lang="en-US" sz="3599" dirty="0" err="1">
                <a:solidFill>
                  <a:srgbClr val="000000"/>
                </a:solidFill>
                <a:latin typeface="Arial"/>
                <a:ea typeface="Arial"/>
                <a:cs typeface="Arial"/>
                <a:sym typeface="Arial"/>
              </a:rPr>
              <a:t>trong</a:t>
            </a:r>
            <a:r>
              <a:rPr lang="en-US" sz="3599" dirty="0">
                <a:solidFill>
                  <a:srgbClr val="000000"/>
                </a:solidFill>
                <a:latin typeface="Arial"/>
                <a:ea typeface="Arial"/>
                <a:cs typeface="Arial"/>
                <a:sym typeface="Arial"/>
              </a:rPr>
              <a:t> </a:t>
            </a:r>
            <a:r>
              <a:rPr lang="en-US" sz="3599" dirty="0" err="1">
                <a:solidFill>
                  <a:srgbClr val="000000"/>
                </a:solidFill>
                <a:latin typeface="Arial"/>
                <a:ea typeface="Arial"/>
                <a:cs typeface="Arial"/>
                <a:sym typeface="Arial"/>
              </a:rPr>
              <a:t>danh</a:t>
            </a:r>
            <a:r>
              <a:rPr lang="en-US" sz="3599" dirty="0">
                <a:solidFill>
                  <a:srgbClr val="000000"/>
                </a:solidFill>
                <a:latin typeface="Arial"/>
                <a:ea typeface="Arial"/>
                <a:cs typeface="Arial"/>
                <a:sym typeface="Arial"/>
              </a:rPr>
              <a:t> </a:t>
            </a:r>
            <a:r>
              <a:rPr lang="en-US" sz="3599" dirty="0" err="1">
                <a:solidFill>
                  <a:srgbClr val="000000"/>
                </a:solidFill>
                <a:latin typeface="Arial"/>
                <a:ea typeface="Arial"/>
                <a:cs typeface="Arial"/>
                <a:sym typeface="Arial"/>
              </a:rPr>
              <a:t>sách</a:t>
            </a:r>
            <a:endParaRPr lang="en-US" sz="3599" dirty="0">
              <a:solidFill>
                <a:srgbClr val="000000"/>
              </a:solidFill>
              <a:latin typeface="Arial"/>
              <a:ea typeface="Arial"/>
              <a:cs typeface="Arial"/>
              <a:sym typeface="Arial"/>
            </a:endParaRPr>
          </a:p>
          <a:p>
            <a:pPr algn="just">
              <a:lnSpc>
                <a:spcPts val="5039"/>
              </a:lnSpc>
            </a:pPr>
            <a:r>
              <a:rPr lang="en-US" sz="3599" dirty="0">
                <a:solidFill>
                  <a:srgbClr val="000000"/>
                </a:solidFill>
                <a:latin typeface="Arial"/>
                <a:ea typeface="Arial"/>
                <a:cs typeface="Arial"/>
                <a:sym typeface="Arial"/>
              </a:rPr>
              <a:t>Các </a:t>
            </a:r>
            <a:r>
              <a:rPr lang="en-US" sz="3599" dirty="0" err="1">
                <a:solidFill>
                  <a:srgbClr val="000000"/>
                </a:solidFill>
                <a:latin typeface="Arial"/>
                <a:ea typeface="Arial"/>
                <a:cs typeface="Arial"/>
                <a:sym typeface="Arial"/>
              </a:rPr>
              <a:t>bước</a:t>
            </a:r>
            <a:r>
              <a:rPr lang="en-US" sz="3599" dirty="0">
                <a:solidFill>
                  <a:srgbClr val="000000"/>
                </a:solidFill>
                <a:latin typeface="Arial"/>
                <a:ea typeface="Arial"/>
                <a:cs typeface="Arial"/>
                <a:sym typeface="Arial"/>
              </a:rPr>
              <a:t>:</a:t>
            </a:r>
          </a:p>
          <a:p>
            <a:pPr marL="777235" lvl="1" indent="-388618" algn="just">
              <a:lnSpc>
                <a:spcPts val="5039"/>
              </a:lnSpc>
              <a:buAutoNum type="arabicPeriod"/>
            </a:pPr>
            <a:r>
              <a:rPr lang="en-US" sz="3599" dirty="0">
                <a:solidFill>
                  <a:srgbClr val="000000"/>
                </a:solidFill>
                <a:latin typeface="Arial"/>
                <a:ea typeface="Arial"/>
                <a:cs typeface="Arial"/>
                <a:sym typeface="Arial"/>
              </a:rPr>
              <a:t>Nhập </a:t>
            </a:r>
            <a:r>
              <a:rPr lang="en-US" sz="3599" dirty="0" err="1">
                <a:solidFill>
                  <a:srgbClr val="000000"/>
                </a:solidFill>
                <a:latin typeface="Arial"/>
                <a:ea typeface="Arial"/>
                <a:cs typeface="Arial"/>
                <a:sym typeface="Arial"/>
              </a:rPr>
              <a:t>thông</a:t>
            </a:r>
            <a:r>
              <a:rPr lang="en-US" sz="3599" dirty="0">
                <a:solidFill>
                  <a:srgbClr val="000000"/>
                </a:solidFill>
                <a:latin typeface="Arial"/>
                <a:ea typeface="Arial"/>
                <a:cs typeface="Arial"/>
                <a:sym typeface="Arial"/>
              </a:rPr>
              <a:t> tin </a:t>
            </a:r>
            <a:r>
              <a:rPr lang="en-US" sz="3599" dirty="0" err="1">
                <a:solidFill>
                  <a:srgbClr val="000000"/>
                </a:solidFill>
                <a:latin typeface="Arial"/>
                <a:ea typeface="Arial"/>
                <a:cs typeface="Arial"/>
                <a:sym typeface="Arial"/>
              </a:rPr>
              <a:t>dự</a:t>
            </a:r>
            <a:r>
              <a:rPr lang="en-US" sz="3599" dirty="0">
                <a:solidFill>
                  <a:srgbClr val="000000"/>
                </a:solidFill>
                <a:latin typeface="Arial"/>
                <a:ea typeface="Arial"/>
                <a:cs typeface="Arial"/>
                <a:sym typeface="Arial"/>
              </a:rPr>
              <a:t> </a:t>
            </a:r>
            <a:r>
              <a:rPr lang="en-US" sz="3599" dirty="0" err="1">
                <a:solidFill>
                  <a:srgbClr val="000000"/>
                </a:solidFill>
                <a:latin typeface="Arial"/>
                <a:ea typeface="Arial"/>
                <a:cs typeface="Arial"/>
                <a:sym typeface="Arial"/>
              </a:rPr>
              <a:t>án</a:t>
            </a:r>
            <a:r>
              <a:rPr lang="en-US" sz="3599" dirty="0">
                <a:solidFill>
                  <a:srgbClr val="000000"/>
                </a:solidFill>
                <a:latin typeface="Arial"/>
                <a:ea typeface="Arial"/>
                <a:cs typeface="Arial"/>
                <a:sym typeface="Arial"/>
              </a:rPr>
              <a:t> </a:t>
            </a:r>
            <a:r>
              <a:rPr lang="en-US" sz="3599" dirty="0" err="1">
                <a:solidFill>
                  <a:srgbClr val="000000"/>
                </a:solidFill>
                <a:latin typeface="Arial"/>
                <a:ea typeface="Arial"/>
                <a:cs typeface="Arial"/>
                <a:sym typeface="Arial"/>
              </a:rPr>
              <a:t>mới</a:t>
            </a:r>
            <a:endParaRPr lang="en-US" sz="3599" dirty="0">
              <a:solidFill>
                <a:srgbClr val="000000"/>
              </a:solidFill>
              <a:latin typeface="Arial"/>
              <a:ea typeface="Arial"/>
              <a:cs typeface="Arial"/>
              <a:sym typeface="Arial"/>
            </a:endParaRPr>
          </a:p>
          <a:p>
            <a:pPr marL="777235" lvl="1" indent="-388618" algn="just">
              <a:lnSpc>
                <a:spcPts val="5039"/>
              </a:lnSpc>
              <a:buAutoNum type="arabicPeriod"/>
            </a:pPr>
            <a:r>
              <a:rPr lang="en-US" sz="3599" dirty="0">
                <a:solidFill>
                  <a:srgbClr val="000000"/>
                </a:solidFill>
                <a:latin typeface="Arial"/>
                <a:ea typeface="Arial"/>
                <a:cs typeface="Arial"/>
                <a:sym typeface="Arial"/>
              </a:rPr>
              <a:t>Nhập </a:t>
            </a:r>
            <a:r>
              <a:rPr lang="en-US" sz="3599" dirty="0" err="1">
                <a:solidFill>
                  <a:srgbClr val="000000"/>
                </a:solidFill>
                <a:latin typeface="Arial"/>
                <a:ea typeface="Arial"/>
                <a:cs typeface="Arial"/>
                <a:sym typeface="Arial"/>
              </a:rPr>
              <a:t>vị</a:t>
            </a:r>
            <a:r>
              <a:rPr lang="en-US" sz="3599" dirty="0">
                <a:solidFill>
                  <a:srgbClr val="000000"/>
                </a:solidFill>
                <a:latin typeface="Arial"/>
                <a:ea typeface="Arial"/>
                <a:cs typeface="Arial"/>
                <a:sym typeface="Arial"/>
              </a:rPr>
              <a:t> </a:t>
            </a:r>
            <a:r>
              <a:rPr lang="en-US" sz="3599" dirty="0" err="1">
                <a:solidFill>
                  <a:srgbClr val="000000"/>
                </a:solidFill>
                <a:latin typeface="Arial"/>
                <a:ea typeface="Arial"/>
                <a:cs typeface="Arial"/>
                <a:sym typeface="Arial"/>
              </a:rPr>
              <a:t>trí</a:t>
            </a:r>
            <a:r>
              <a:rPr lang="en-US" sz="3599" dirty="0">
                <a:solidFill>
                  <a:srgbClr val="000000"/>
                </a:solidFill>
                <a:latin typeface="Arial"/>
                <a:ea typeface="Arial"/>
                <a:cs typeface="Arial"/>
                <a:sym typeface="Arial"/>
              </a:rPr>
              <a:t> </a:t>
            </a:r>
            <a:r>
              <a:rPr lang="en-US" sz="3599" dirty="0" err="1">
                <a:solidFill>
                  <a:srgbClr val="000000"/>
                </a:solidFill>
                <a:latin typeface="Arial"/>
                <a:ea typeface="Arial"/>
                <a:cs typeface="Arial"/>
                <a:sym typeface="Arial"/>
              </a:rPr>
              <a:t>cần</a:t>
            </a:r>
            <a:r>
              <a:rPr lang="en-US" sz="3599" dirty="0">
                <a:solidFill>
                  <a:srgbClr val="000000"/>
                </a:solidFill>
                <a:latin typeface="Arial"/>
                <a:ea typeface="Arial"/>
                <a:cs typeface="Arial"/>
                <a:sym typeface="Arial"/>
              </a:rPr>
              <a:t> </a:t>
            </a:r>
            <a:r>
              <a:rPr lang="en-US" sz="3599" dirty="0" err="1">
                <a:solidFill>
                  <a:srgbClr val="000000"/>
                </a:solidFill>
                <a:latin typeface="Arial"/>
                <a:ea typeface="Arial"/>
                <a:cs typeface="Arial"/>
                <a:sym typeface="Arial"/>
              </a:rPr>
              <a:t>chèn</a:t>
            </a:r>
            <a:endParaRPr lang="en-US" sz="3599" dirty="0">
              <a:solidFill>
                <a:srgbClr val="000000"/>
              </a:solidFill>
              <a:latin typeface="Arial"/>
              <a:ea typeface="Arial"/>
              <a:cs typeface="Arial"/>
              <a:sym typeface="Arial"/>
            </a:endParaRPr>
          </a:p>
          <a:p>
            <a:pPr marL="777235" lvl="1" indent="-388618" algn="just">
              <a:lnSpc>
                <a:spcPts val="5039"/>
              </a:lnSpc>
              <a:buAutoNum type="arabicPeriod"/>
            </a:pPr>
            <a:r>
              <a:rPr lang="en-US" sz="3599" dirty="0" err="1">
                <a:solidFill>
                  <a:srgbClr val="000000"/>
                </a:solidFill>
                <a:latin typeface="Arial"/>
                <a:ea typeface="Arial"/>
                <a:cs typeface="Arial"/>
                <a:sym typeface="Arial"/>
              </a:rPr>
              <a:t>Kiểm</a:t>
            </a:r>
            <a:r>
              <a:rPr lang="en-US" sz="3599" dirty="0">
                <a:solidFill>
                  <a:srgbClr val="000000"/>
                </a:solidFill>
                <a:latin typeface="Arial"/>
                <a:ea typeface="Arial"/>
                <a:cs typeface="Arial"/>
                <a:sym typeface="Arial"/>
              </a:rPr>
              <a:t> </a:t>
            </a:r>
            <a:r>
              <a:rPr lang="en-US" sz="3599" dirty="0" err="1">
                <a:solidFill>
                  <a:srgbClr val="000000"/>
                </a:solidFill>
                <a:latin typeface="Arial"/>
                <a:ea typeface="Arial"/>
                <a:cs typeface="Arial"/>
                <a:sym typeface="Arial"/>
              </a:rPr>
              <a:t>tra</a:t>
            </a:r>
            <a:r>
              <a:rPr lang="en-US" sz="3599" dirty="0">
                <a:solidFill>
                  <a:srgbClr val="000000"/>
                </a:solidFill>
                <a:latin typeface="Arial"/>
                <a:ea typeface="Arial"/>
                <a:cs typeface="Arial"/>
                <a:sym typeface="Arial"/>
              </a:rPr>
              <a:t> </a:t>
            </a:r>
            <a:r>
              <a:rPr lang="en-US" sz="3599" dirty="0" err="1">
                <a:solidFill>
                  <a:srgbClr val="000000"/>
                </a:solidFill>
                <a:latin typeface="Arial"/>
                <a:ea typeface="Arial"/>
                <a:cs typeface="Arial"/>
                <a:sym typeface="Arial"/>
              </a:rPr>
              <a:t>vị</a:t>
            </a:r>
            <a:r>
              <a:rPr lang="en-US" sz="3599" dirty="0">
                <a:solidFill>
                  <a:srgbClr val="000000"/>
                </a:solidFill>
                <a:latin typeface="Arial"/>
                <a:ea typeface="Arial"/>
                <a:cs typeface="Arial"/>
                <a:sym typeface="Arial"/>
              </a:rPr>
              <a:t> </a:t>
            </a:r>
            <a:r>
              <a:rPr lang="en-US" sz="3599" dirty="0" err="1">
                <a:solidFill>
                  <a:srgbClr val="000000"/>
                </a:solidFill>
                <a:latin typeface="Arial"/>
                <a:ea typeface="Arial"/>
                <a:cs typeface="Arial"/>
                <a:sym typeface="Arial"/>
              </a:rPr>
              <a:t>trí</a:t>
            </a:r>
            <a:r>
              <a:rPr lang="en-US" sz="3599" dirty="0">
                <a:solidFill>
                  <a:srgbClr val="000000"/>
                </a:solidFill>
                <a:latin typeface="Arial"/>
                <a:ea typeface="Arial"/>
                <a:cs typeface="Arial"/>
                <a:sym typeface="Arial"/>
              </a:rPr>
              <a:t> </a:t>
            </a:r>
            <a:r>
              <a:rPr lang="en-US" sz="3599" dirty="0" err="1">
                <a:solidFill>
                  <a:srgbClr val="000000"/>
                </a:solidFill>
                <a:latin typeface="Arial"/>
                <a:ea typeface="Arial"/>
                <a:cs typeface="Arial"/>
                <a:sym typeface="Arial"/>
              </a:rPr>
              <a:t>hợp</a:t>
            </a:r>
            <a:r>
              <a:rPr lang="en-US" sz="3599" dirty="0">
                <a:solidFill>
                  <a:srgbClr val="000000"/>
                </a:solidFill>
                <a:latin typeface="Arial"/>
                <a:ea typeface="Arial"/>
                <a:cs typeface="Arial"/>
                <a:sym typeface="Arial"/>
              </a:rPr>
              <a:t> </a:t>
            </a:r>
            <a:r>
              <a:rPr lang="en-US" sz="3599" dirty="0" err="1">
                <a:solidFill>
                  <a:srgbClr val="000000"/>
                </a:solidFill>
                <a:latin typeface="Arial"/>
                <a:ea typeface="Arial"/>
                <a:cs typeface="Arial"/>
                <a:sym typeface="Arial"/>
              </a:rPr>
              <a:t>lệ</a:t>
            </a:r>
            <a:endParaRPr lang="en-US" sz="3599" dirty="0">
              <a:solidFill>
                <a:srgbClr val="000000"/>
              </a:solidFill>
              <a:latin typeface="Arial"/>
              <a:ea typeface="Arial"/>
              <a:cs typeface="Arial"/>
              <a:sym typeface="Arial"/>
            </a:endParaRPr>
          </a:p>
          <a:p>
            <a:pPr marL="777235" lvl="1" indent="-388618" algn="just">
              <a:lnSpc>
                <a:spcPts val="5039"/>
              </a:lnSpc>
              <a:buAutoNum type="arabicPeriod"/>
            </a:pPr>
            <a:r>
              <a:rPr lang="en-US" sz="3599" dirty="0" err="1">
                <a:solidFill>
                  <a:srgbClr val="000000"/>
                </a:solidFill>
                <a:latin typeface="Arial"/>
                <a:ea typeface="Arial"/>
                <a:cs typeface="Arial"/>
                <a:sym typeface="Arial"/>
              </a:rPr>
              <a:t>Dịch</a:t>
            </a:r>
            <a:r>
              <a:rPr lang="en-US" sz="3599" dirty="0">
                <a:solidFill>
                  <a:srgbClr val="000000"/>
                </a:solidFill>
                <a:latin typeface="Arial"/>
                <a:ea typeface="Arial"/>
                <a:cs typeface="Arial"/>
                <a:sym typeface="Arial"/>
              </a:rPr>
              <a:t> </a:t>
            </a:r>
            <a:r>
              <a:rPr lang="en-US" sz="3599" dirty="0" err="1">
                <a:solidFill>
                  <a:srgbClr val="000000"/>
                </a:solidFill>
                <a:latin typeface="Arial"/>
                <a:ea typeface="Arial"/>
                <a:cs typeface="Arial"/>
                <a:sym typeface="Arial"/>
              </a:rPr>
              <a:t>chuyển</a:t>
            </a:r>
            <a:r>
              <a:rPr lang="en-US" sz="3599" dirty="0">
                <a:solidFill>
                  <a:srgbClr val="000000"/>
                </a:solidFill>
                <a:latin typeface="Arial"/>
                <a:ea typeface="Arial"/>
                <a:cs typeface="Arial"/>
                <a:sym typeface="Arial"/>
              </a:rPr>
              <a:t> </a:t>
            </a:r>
            <a:r>
              <a:rPr lang="en-US" sz="3599" dirty="0" err="1">
                <a:solidFill>
                  <a:srgbClr val="000000"/>
                </a:solidFill>
                <a:latin typeface="Arial"/>
                <a:ea typeface="Arial"/>
                <a:cs typeface="Arial"/>
                <a:sym typeface="Arial"/>
              </a:rPr>
              <a:t>các</a:t>
            </a:r>
            <a:r>
              <a:rPr lang="en-US" sz="3599" dirty="0">
                <a:solidFill>
                  <a:srgbClr val="000000"/>
                </a:solidFill>
                <a:latin typeface="Arial"/>
                <a:ea typeface="Arial"/>
                <a:cs typeface="Arial"/>
                <a:sym typeface="Arial"/>
              </a:rPr>
              <a:t> </a:t>
            </a:r>
            <a:r>
              <a:rPr lang="en-US" sz="3599" dirty="0" err="1">
                <a:solidFill>
                  <a:srgbClr val="000000"/>
                </a:solidFill>
                <a:latin typeface="Arial"/>
                <a:ea typeface="Arial"/>
                <a:cs typeface="Arial"/>
                <a:sym typeface="Arial"/>
              </a:rPr>
              <a:t>phần</a:t>
            </a:r>
            <a:r>
              <a:rPr lang="en-US" sz="3599" dirty="0">
                <a:solidFill>
                  <a:srgbClr val="000000"/>
                </a:solidFill>
                <a:latin typeface="Arial"/>
                <a:ea typeface="Arial"/>
                <a:cs typeface="Arial"/>
                <a:sym typeface="Arial"/>
              </a:rPr>
              <a:t> </a:t>
            </a:r>
            <a:r>
              <a:rPr lang="en-US" sz="3599" dirty="0" err="1">
                <a:solidFill>
                  <a:srgbClr val="000000"/>
                </a:solidFill>
                <a:latin typeface="Arial"/>
                <a:ea typeface="Arial"/>
                <a:cs typeface="Arial"/>
                <a:sym typeface="Arial"/>
              </a:rPr>
              <a:t>tử</a:t>
            </a:r>
            <a:r>
              <a:rPr lang="en-US" sz="3599" dirty="0">
                <a:solidFill>
                  <a:srgbClr val="000000"/>
                </a:solidFill>
                <a:latin typeface="Arial"/>
                <a:ea typeface="Arial"/>
                <a:cs typeface="Arial"/>
                <a:sym typeface="Arial"/>
              </a:rPr>
              <a:t> </a:t>
            </a:r>
            <a:r>
              <a:rPr lang="en-US" sz="3599" dirty="0" err="1">
                <a:solidFill>
                  <a:srgbClr val="000000"/>
                </a:solidFill>
                <a:latin typeface="Arial"/>
                <a:ea typeface="Arial"/>
                <a:cs typeface="Arial"/>
                <a:sym typeface="Arial"/>
              </a:rPr>
              <a:t>phía</a:t>
            </a:r>
            <a:r>
              <a:rPr lang="en-US" sz="3599" dirty="0">
                <a:solidFill>
                  <a:srgbClr val="000000"/>
                </a:solidFill>
                <a:latin typeface="Arial"/>
                <a:ea typeface="Arial"/>
                <a:cs typeface="Arial"/>
                <a:sym typeface="Arial"/>
              </a:rPr>
              <a:t> </a:t>
            </a:r>
            <a:r>
              <a:rPr lang="en-US" sz="3599" dirty="0" err="1">
                <a:solidFill>
                  <a:srgbClr val="000000"/>
                </a:solidFill>
                <a:latin typeface="Arial"/>
                <a:ea typeface="Arial"/>
                <a:cs typeface="Arial"/>
                <a:sym typeface="Arial"/>
              </a:rPr>
              <a:t>sau</a:t>
            </a:r>
            <a:endParaRPr lang="en-US" sz="3599" dirty="0">
              <a:solidFill>
                <a:srgbClr val="000000"/>
              </a:solidFill>
              <a:latin typeface="Arial"/>
              <a:ea typeface="Arial"/>
              <a:cs typeface="Arial"/>
              <a:sym typeface="Arial"/>
            </a:endParaRPr>
          </a:p>
          <a:p>
            <a:pPr marL="777235" lvl="1" indent="-388618" algn="just">
              <a:lnSpc>
                <a:spcPts val="5039"/>
              </a:lnSpc>
              <a:buAutoNum type="arabicPeriod"/>
            </a:pPr>
            <a:r>
              <a:rPr lang="en-US" sz="3599" dirty="0" err="1">
                <a:solidFill>
                  <a:srgbClr val="000000"/>
                </a:solidFill>
                <a:latin typeface="Arial"/>
                <a:ea typeface="Arial"/>
                <a:cs typeface="Arial"/>
                <a:sym typeface="Arial"/>
              </a:rPr>
              <a:t>Chèn</a:t>
            </a:r>
            <a:r>
              <a:rPr lang="en-US" sz="3599" dirty="0">
                <a:solidFill>
                  <a:srgbClr val="000000"/>
                </a:solidFill>
                <a:latin typeface="Arial"/>
                <a:ea typeface="Arial"/>
                <a:cs typeface="Arial"/>
                <a:sym typeface="Arial"/>
              </a:rPr>
              <a:t> </a:t>
            </a:r>
            <a:r>
              <a:rPr lang="en-US" sz="3599" dirty="0" err="1">
                <a:solidFill>
                  <a:srgbClr val="000000"/>
                </a:solidFill>
                <a:latin typeface="Arial"/>
                <a:ea typeface="Arial"/>
                <a:cs typeface="Arial"/>
                <a:sym typeface="Arial"/>
              </a:rPr>
              <a:t>dự</a:t>
            </a:r>
            <a:r>
              <a:rPr lang="en-US" sz="3599" dirty="0">
                <a:solidFill>
                  <a:srgbClr val="000000"/>
                </a:solidFill>
                <a:latin typeface="Arial"/>
                <a:ea typeface="Arial"/>
                <a:cs typeface="Arial"/>
                <a:sym typeface="Arial"/>
              </a:rPr>
              <a:t> </a:t>
            </a:r>
            <a:r>
              <a:rPr lang="en-US" sz="3599" dirty="0" err="1">
                <a:solidFill>
                  <a:srgbClr val="000000"/>
                </a:solidFill>
                <a:latin typeface="Arial"/>
                <a:ea typeface="Arial"/>
                <a:cs typeface="Arial"/>
                <a:sym typeface="Arial"/>
              </a:rPr>
              <a:t>án</a:t>
            </a:r>
            <a:r>
              <a:rPr lang="en-US" sz="3599" dirty="0">
                <a:solidFill>
                  <a:srgbClr val="000000"/>
                </a:solidFill>
                <a:latin typeface="Arial"/>
                <a:ea typeface="Arial"/>
                <a:cs typeface="Arial"/>
                <a:sym typeface="Arial"/>
              </a:rPr>
              <a:t> </a:t>
            </a:r>
            <a:r>
              <a:rPr lang="en-US" sz="3599" dirty="0" err="1">
                <a:solidFill>
                  <a:srgbClr val="000000"/>
                </a:solidFill>
                <a:latin typeface="Arial"/>
                <a:ea typeface="Arial"/>
                <a:cs typeface="Arial"/>
                <a:sym typeface="Arial"/>
              </a:rPr>
              <a:t>mới</a:t>
            </a:r>
            <a:r>
              <a:rPr lang="en-US" sz="3599" dirty="0">
                <a:solidFill>
                  <a:srgbClr val="000000"/>
                </a:solidFill>
                <a:latin typeface="Arial"/>
                <a:ea typeface="Arial"/>
                <a:cs typeface="Arial"/>
                <a:sym typeface="Arial"/>
              </a:rPr>
              <a:t> </a:t>
            </a:r>
            <a:r>
              <a:rPr lang="en-US" sz="3599" dirty="0" err="1">
                <a:solidFill>
                  <a:srgbClr val="000000"/>
                </a:solidFill>
                <a:latin typeface="Arial"/>
                <a:ea typeface="Arial"/>
                <a:cs typeface="Arial"/>
                <a:sym typeface="Arial"/>
              </a:rPr>
              <a:t>vào</a:t>
            </a:r>
            <a:r>
              <a:rPr lang="en-US" sz="3599" dirty="0">
                <a:solidFill>
                  <a:srgbClr val="000000"/>
                </a:solidFill>
                <a:latin typeface="Arial"/>
                <a:ea typeface="Arial"/>
                <a:cs typeface="Arial"/>
                <a:sym typeface="Arial"/>
              </a:rPr>
              <a:t> </a:t>
            </a:r>
            <a:r>
              <a:rPr lang="en-US" sz="3599" dirty="0" err="1">
                <a:solidFill>
                  <a:srgbClr val="000000"/>
                </a:solidFill>
                <a:latin typeface="Arial"/>
                <a:ea typeface="Arial"/>
                <a:cs typeface="Arial"/>
                <a:sym typeface="Arial"/>
              </a:rPr>
              <a:t>vị</a:t>
            </a:r>
            <a:r>
              <a:rPr lang="en-US" sz="3599" dirty="0">
                <a:solidFill>
                  <a:srgbClr val="000000"/>
                </a:solidFill>
                <a:latin typeface="Arial"/>
                <a:ea typeface="Arial"/>
                <a:cs typeface="Arial"/>
                <a:sym typeface="Arial"/>
              </a:rPr>
              <a:t> </a:t>
            </a:r>
            <a:r>
              <a:rPr lang="en-US" sz="3599" dirty="0" err="1">
                <a:solidFill>
                  <a:srgbClr val="000000"/>
                </a:solidFill>
                <a:latin typeface="Arial"/>
                <a:ea typeface="Arial"/>
                <a:cs typeface="Arial"/>
                <a:sym typeface="Arial"/>
              </a:rPr>
              <a:t>trí</a:t>
            </a:r>
            <a:endParaRPr lang="en-US" sz="3599" dirty="0">
              <a:solidFill>
                <a:srgbClr val="000000"/>
              </a:solidFill>
              <a:latin typeface="Arial"/>
              <a:ea typeface="Arial"/>
              <a:cs typeface="Arial"/>
              <a:sym typeface="Arial"/>
            </a:endParaRPr>
          </a:p>
          <a:p>
            <a:pPr algn="just">
              <a:lnSpc>
                <a:spcPts val="5039"/>
              </a:lnSpc>
            </a:pPr>
            <a:r>
              <a:rPr lang="en-US" sz="3599" dirty="0" err="1">
                <a:solidFill>
                  <a:srgbClr val="000000"/>
                </a:solidFill>
                <a:latin typeface="Arial"/>
                <a:ea typeface="Arial"/>
                <a:cs typeface="Arial"/>
                <a:sym typeface="Arial"/>
              </a:rPr>
              <a:t>Kết</a:t>
            </a:r>
            <a:r>
              <a:rPr lang="en-US" sz="3599" dirty="0">
                <a:solidFill>
                  <a:srgbClr val="000000"/>
                </a:solidFill>
                <a:latin typeface="Arial"/>
                <a:ea typeface="Arial"/>
                <a:cs typeface="Arial"/>
                <a:sym typeface="Arial"/>
              </a:rPr>
              <a:t> </a:t>
            </a:r>
            <a:r>
              <a:rPr lang="en-US" sz="3599" dirty="0" err="1">
                <a:solidFill>
                  <a:srgbClr val="000000"/>
                </a:solidFill>
                <a:latin typeface="Arial"/>
                <a:ea typeface="Arial"/>
                <a:cs typeface="Arial"/>
                <a:sym typeface="Arial"/>
              </a:rPr>
              <a:t>quả</a:t>
            </a:r>
            <a:r>
              <a:rPr lang="en-US" sz="3599" dirty="0">
                <a:solidFill>
                  <a:srgbClr val="000000"/>
                </a:solidFill>
                <a:latin typeface="Arial"/>
                <a:ea typeface="Arial"/>
                <a:cs typeface="Arial"/>
                <a:sym typeface="Arial"/>
              </a:rPr>
              <a:t>: </a:t>
            </a:r>
            <a:r>
              <a:rPr lang="en-US" sz="3599" dirty="0" err="1">
                <a:solidFill>
                  <a:srgbClr val="000000"/>
                </a:solidFill>
                <a:latin typeface="Arial"/>
                <a:ea typeface="Arial"/>
                <a:cs typeface="Arial"/>
                <a:sym typeface="Arial"/>
              </a:rPr>
              <a:t>số</a:t>
            </a:r>
            <a:r>
              <a:rPr lang="en-US" sz="3599" dirty="0">
                <a:solidFill>
                  <a:srgbClr val="000000"/>
                </a:solidFill>
                <a:latin typeface="Arial"/>
                <a:ea typeface="Arial"/>
                <a:cs typeface="Arial"/>
                <a:sym typeface="Arial"/>
              </a:rPr>
              <a:t> </a:t>
            </a:r>
            <a:r>
              <a:rPr lang="en-US" sz="3599" dirty="0" err="1">
                <a:solidFill>
                  <a:srgbClr val="000000"/>
                </a:solidFill>
                <a:latin typeface="Arial"/>
                <a:ea typeface="Arial"/>
                <a:cs typeface="Arial"/>
                <a:sym typeface="Arial"/>
              </a:rPr>
              <a:t>lượng</a:t>
            </a:r>
            <a:r>
              <a:rPr lang="en-US" sz="3599" dirty="0">
                <a:solidFill>
                  <a:srgbClr val="000000"/>
                </a:solidFill>
                <a:latin typeface="Arial"/>
                <a:ea typeface="Arial"/>
                <a:cs typeface="Arial"/>
                <a:sym typeface="Arial"/>
              </a:rPr>
              <a:t> </a:t>
            </a:r>
            <a:r>
              <a:rPr lang="en-US" sz="3599" dirty="0" err="1">
                <a:solidFill>
                  <a:srgbClr val="000000"/>
                </a:solidFill>
                <a:latin typeface="Arial"/>
                <a:ea typeface="Arial"/>
                <a:cs typeface="Arial"/>
                <a:sym typeface="Arial"/>
              </a:rPr>
              <a:t>dự</a:t>
            </a:r>
            <a:r>
              <a:rPr lang="en-US" sz="3599" dirty="0">
                <a:solidFill>
                  <a:srgbClr val="000000"/>
                </a:solidFill>
                <a:latin typeface="Arial"/>
                <a:ea typeface="Arial"/>
                <a:cs typeface="Arial"/>
                <a:sym typeface="Arial"/>
              </a:rPr>
              <a:t> </a:t>
            </a:r>
            <a:r>
              <a:rPr lang="en-US" sz="3599" dirty="0" err="1">
                <a:solidFill>
                  <a:srgbClr val="000000"/>
                </a:solidFill>
                <a:latin typeface="Arial"/>
                <a:ea typeface="Arial"/>
                <a:cs typeface="Arial"/>
                <a:sym typeface="Arial"/>
              </a:rPr>
              <a:t>án</a:t>
            </a:r>
            <a:r>
              <a:rPr lang="en-US" sz="3599" dirty="0">
                <a:solidFill>
                  <a:srgbClr val="000000"/>
                </a:solidFill>
                <a:latin typeface="Arial"/>
                <a:ea typeface="Arial"/>
                <a:cs typeface="Arial"/>
                <a:sym typeface="Arial"/>
              </a:rPr>
              <a:t> </a:t>
            </a:r>
            <a:r>
              <a:rPr lang="en-US" sz="3599" dirty="0" err="1">
                <a:solidFill>
                  <a:srgbClr val="000000"/>
                </a:solidFill>
                <a:latin typeface="Arial"/>
                <a:ea typeface="Arial"/>
                <a:cs typeface="Arial"/>
                <a:sym typeface="Arial"/>
              </a:rPr>
              <a:t>tăng</a:t>
            </a:r>
            <a:r>
              <a:rPr lang="en-US" sz="3599" dirty="0">
                <a:solidFill>
                  <a:srgbClr val="000000"/>
                </a:solidFill>
                <a:latin typeface="Arial"/>
                <a:ea typeface="Arial"/>
                <a:cs typeface="Arial"/>
                <a:sym typeface="Arial"/>
              </a:rPr>
              <a:t> </a:t>
            </a:r>
            <a:r>
              <a:rPr lang="en-US" sz="3599" dirty="0" err="1">
                <a:solidFill>
                  <a:srgbClr val="000000"/>
                </a:solidFill>
                <a:latin typeface="Arial"/>
                <a:ea typeface="Arial"/>
                <a:cs typeface="Arial"/>
                <a:sym typeface="Arial"/>
              </a:rPr>
              <a:t>lên</a:t>
            </a:r>
            <a:r>
              <a:rPr lang="en-US" sz="3599" dirty="0">
                <a:solidFill>
                  <a:srgbClr val="000000"/>
                </a:solidFill>
                <a:latin typeface="Arial"/>
                <a:ea typeface="Arial"/>
                <a:cs typeface="Arial"/>
                <a:sym typeface="Arial"/>
              </a:rPr>
              <a:t> 1</a:t>
            </a:r>
          </a:p>
        </p:txBody>
      </p:sp>
      <p:sp>
        <p:nvSpPr>
          <p:cNvPr id="11" name="Freeform 11"/>
          <p:cNvSpPr/>
          <p:nvPr/>
        </p:nvSpPr>
        <p:spPr>
          <a:xfrm>
            <a:off x="10018523" y="5544880"/>
            <a:ext cx="8098271" cy="3713420"/>
          </a:xfrm>
          <a:custGeom>
            <a:avLst/>
            <a:gdLst/>
            <a:ahLst/>
            <a:cxnLst/>
            <a:rect l="l" t="t" r="r" b="b"/>
            <a:pathLst>
              <a:path w="8098271" h="3713420">
                <a:moveTo>
                  <a:pt x="0" y="0"/>
                </a:moveTo>
                <a:lnTo>
                  <a:pt x="8098271" y="0"/>
                </a:lnTo>
                <a:lnTo>
                  <a:pt x="8098271" y="3713420"/>
                </a:lnTo>
                <a:lnTo>
                  <a:pt x="0" y="3713420"/>
                </a:lnTo>
                <a:lnTo>
                  <a:pt x="0" y="0"/>
                </a:lnTo>
                <a:close/>
              </a:path>
            </a:pathLst>
          </a:custGeom>
          <a:blipFill>
            <a:blip r:embed="rId3"/>
            <a:stretch>
              <a:fillRect/>
            </a:stretch>
          </a:blipFill>
        </p:spPr>
      </p:sp>
      <p:sp>
        <p:nvSpPr>
          <p:cNvPr id="12" name="TextBox 12"/>
          <p:cNvSpPr txBox="1"/>
          <p:nvPr/>
        </p:nvSpPr>
        <p:spPr>
          <a:xfrm>
            <a:off x="5816090" y="611043"/>
            <a:ext cx="6900169" cy="863600"/>
          </a:xfrm>
          <a:prstGeom prst="rect">
            <a:avLst/>
          </a:prstGeom>
        </p:spPr>
        <p:txBody>
          <a:bodyPr lIns="0" tIns="0" rIns="0" bIns="0" rtlCol="0" anchor="t">
            <a:spAutoFit/>
          </a:bodyPr>
          <a:lstStyle/>
          <a:p>
            <a:pPr algn="ctr">
              <a:lnSpc>
                <a:spcPts val="7000"/>
              </a:lnSpc>
            </a:pPr>
            <a:r>
              <a:rPr lang="en-US" sz="5000" b="1">
                <a:solidFill>
                  <a:srgbClr val="000000"/>
                </a:solidFill>
                <a:latin typeface="Noto Sans Bold"/>
                <a:ea typeface="Noto Sans Bold"/>
                <a:cs typeface="Noto Sans Bold"/>
                <a:sym typeface="Noto Sans Bold"/>
              </a:rPr>
              <a:t>5.4. BỔ SUNG DỰ ÁN</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5400000">
            <a:off x="1176220" y="8442892"/>
            <a:ext cx="762503" cy="1630815"/>
          </a:xfrm>
          <a:custGeom>
            <a:avLst/>
            <a:gdLst/>
            <a:ahLst/>
            <a:cxnLst/>
            <a:rect l="l" t="t" r="r" b="b"/>
            <a:pathLst>
              <a:path w="762503" h="1630815">
                <a:moveTo>
                  <a:pt x="0" y="0"/>
                </a:moveTo>
                <a:lnTo>
                  <a:pt x="762503" y="0"/>
                </a:lnTo>
                <a:lnTo>
                  <a:pt x="762503" y="1630816"/>
                </a:lnTo>
                <a:lnTo>
                  <a:pt x="0" y="1630816"/>
                </a:lnTo>
                <a:lnTo>
                  <a:pt x="0" y="0"/>
                </a:lnTo>
                <a:close/>
              </a:path>
            </a:pathLst>
          </a:custGeom>
          <a:blipFill>
            <a:blip>
              <a:alphaModFix amt="50000"/>
              <a:extLst>
                <a:ext uri="{96DAC541-7B7A-43D3-8B79-37D633B846F1}">
                  <asvg:svgBlip xmlns:asvg="http://schemas.microsoft.com/office/drawing/2016/SVG/main" r:embed="rId2"/>
                </a:ext>
              </a:extLst>
            </a:blip>
            <a:stretch>
              <a:fillRect b="-23452"/>
            </a:stretch>
          </a:blipFill>
        </p:spPr>
      </p:sp>
      <p:grpSp>
        <p:nvGrpSpPr>
          <p:cNvPr id="3" name="Group 3"/>
          <p:cNvGrpSpPr/>
          <p:nvPr/>
        </p:nvGrpSpPr>
        <p:grpSpPr>
          <a:xfrm>
            <a:off x="15465034" y="3682289"/>
            <a:ext cx="4499387" cy="6637439"/>
            <a:chOff x="0" y="0"/>
            <a:chExt cx="5999183" cy="8849918"/>
          </a:xfrm>
        </p:grpSpPr>
        <p:grpSp>
          <p:nvGrpSpPr>
            <p:cNvPr id="4" name="Group 4"/>
            <p:cNvGrpSpPr/>
            <p:nvPr/>
          </p:nvGrpSpPr>
          <p:grpSpPr>
            <a:xfrm>
              <a:off x="0" y="0"/>
              <a:ext cx="5999183" cy="7667164"/>
              <a:chOff x="0" y="0"/>
              <a:chExt cx="546542" cy="698500"/>
            </a:xfrm>
          </p:grpSpPr>
          <p:sp>
            <p:nvSpPr>
              <p:cNvPr id="5" name="Freeform 5"/>
              <p:cNvSpPr/>
              <p:nvPr/>
            </p:nvSpPr>
            <p:spPr>
              <a:xfrm>
                <a:off x="0" y="0"/>
                <a:ext cx="546542" cy="698500"/>
              </a:xfrm>
              <a:custGeom>
                <a:avLst/>
                <a:gdLst/>
                <a:ahLst/>
                <a:cxnLst/>
                <a:rect l="l" t="t" r="r" b="b"/>
                <a:pathLst>
                  <a:path w="546542" h="698500">
                    <a:moveTo>
                      <a:pt x="546542" y="349250"/>
                    </a:moveTo>
                    <a:lnTo>
                      <a:pt x="343342" y="698500"/>
                    </a:lnTo>
                    <a:lnTo>
                      <a:pt x="203200" y="698500"/>
                    </a:lnTo>
                    <a:lnTo>
                      <a:pt x="0" y="349250"/>
                    </a:lnTo>
                    <a:lnTo>
                      <a:pt x="203200" y="0"/>
                    </a:lnTo>
                    <a:lnTo>
                      <a:pt x="343342" y="0"/>
                    </a:lnTo>
                    <a:lnTo>
                      <a:pt x="546542" y="349250"/>
                    </a:lnTo>
                    <a:close/>
                  </a:path>
                </a:pathLst>
              </a:custGeom>
              <a:solidFill>
                <a:srgbClr val="0F81CA"/>
              </a:solidFill>
            </p:spPr>
          </p:sp>
          <p:sp>
            <p:nvSpPr>
              <p:cNvPr id="6" name="TextBox 6"/>
              <p:cNvSpPr txBox="1"/>
              <p:nvPr/>
            </p:nvSpPr>
            <p:spPr>
              <a:xfrm>
                <a:off x="114300" y="-38100"/>
                <a:ext cx="317942" cy="736600"/>
              </a:xfrm>
              <a:prstGeom prst="rect">
                <a:avLst/>
              </a:prstGeom>
            </p:spPr>
            <p:txBody>
              <a:bodyPr lIns="50800" tIns="50800" rIns="50800" bIns="50800" rtlCol="0" anchor="ctr"/>
              <a:lstStyle/>
              <a:p>
                <a:pPr algn="ctr">
                  <a:lnSpc>
                    <a:spcPts val="2660"/>
                  </a:lnSpc>
                  <a:spcBef>
                    <a:spcPct val="0"/>
                  </a:spcBef>
                </a:pPr>
                <a:endParaRPr/>
              </a:p>
            </p:txBody>
          </p:sp>
        </p:grpSp>
        <p:grpSp>
          <p:nvGrpSpPr>
            <p:cNvPr id="7" name="Group 7"/>
            <p:cNvGrpSpPr/>
            <p:nvPr/>
          </p:nvGrpSpPr>
          <p:grpSpPr>
            <a:xfrm>
              <a:off x="177137" y="2301700"/>
              <a:ext cx="5123662" cy="6548218"/>
              <a:chOff x="0" y="0"/>
              <a:chExt cx="546542" cy="698500"/>
            </a:xfrm>
          </p:grpSpPr>
          <p:sp>
            <p:nvSpPr>
              <p:cNvPr id="8" name="Freeform 8"/>
              <p:cNvSpPr/>
              <p:nvPr/>
            </p:nvSpPr>
            <p:spPr>
              <a:xfrm>
                <a:off x="0" y="0"/>
                <a:ext cx="546542" cy="698500"/>
              </a:xfrm>
              <a:custGeom>
                <a:avLst/>
                <a:gdLst/>
                <a:ahLst/>
                <a:cxnLst/>
                <a:rect l="l" t="t" r="r" b="b"/>
                <a:pathLst>
                  <a:path w="546542" h="698500">
                    <a:moveTo>
                      <a:pt x="546542" y="349250"/>
                    </a:moveTo>
                    <a:lnTo>
                      <a:pt x="343342" y="698500"/>
                    </a:lnTo>
                    <a:lnTo>
                      <a:pt x="203200" y="698500"/>
                    </a:lnTo>
                    <a:lnTo>
                      <a:pt x="0" y="349250"/>
                    </a:lnTo>
                    <a:lnTo>
                      <a:pt x="203200" y="0"/>
                    </a:lnTo>
                    <a:lnTo>
                      <a:pt x="343342" y="0"/>
                    </a:lnTo>
                    <a:lnTo>
                      <a:pt x="546542" y="349250"/>
                    </a:lnTo>
                    <a:close/>
                  </a:path>
                </a:pathLst>
              </a:custGeom>
              <a:solidFill>
                <a:srgbClr val="023D63"/>
              </a:solidFill>
            </p:spPr>
          </p:sp>
          <p:sp>
            <p:nvSpPr>
              <p:cNvPr id="9" name="TextBox 9"/>
              <p:cNvSpPr txBox="1"/>
              <p:nvPr/>
            </p:nvSpPr>
            <p:spPr>
              <a:xfrm>
                <a:off x="114300" y="-38100"/>
                <a:ext cx="317942" cy="736600"/>
              </a:xfrm>
              <a:prstGeom prst="rect">
                <a:avLst/>
              </a:prstGeom>
            </p:spPr>
            <p:txBody>
              <a:bodyPr lIns="50800" tIns="50800" rIns="50800" bIns="50800" rtlCol="0" anchor="ctr"/>
              <a:lstStyle/>
              <a:p>
                <a:pPr algn="ctr">
                  <a:lnSpc>
                    <a:spcPts val="2660"/>
                  </a:lnSpc>
                  <a:spcBef>
                    <a:spcPct val="0"/>
                  </a:spcBef>
                </a:pPr>
                <a:endParaRPr/>
              </a:p>
            </p:txBody>
          </p:sp>
        </p:grpSp>
      </p:grpSp>
      <p:sp>
        <p:nvSpPr>
          <p:cNvPr id="10" name="TextBox 10"/>
          <p:cNvSpPr txBox="1"/>
          <p:nvPr/>
        </p:nvSpPr>
        <p:spPr>
          <a:xfrm>
            <a:off x="3172712" y="1357881"/>
            <a:ext cx="9867749" cy="8281671"/>
          </a:xfrm>
          <a:prstGeom prst="rect">
            <a:avLst/>
          </a:prstGeom>
        </p:spPr>
        <p:txBody>
          <a:bodyPr lIns="0" tIns="0" rIns="0" bIns="0" rtlCol="0" anchor="t">
            <a:spAutoFit/>
          </a:bodyPr>
          <a:lstStyle/>
          <a:p>
            <a:pPr algn="just">
              <a:lnSpc>
                <a:spcPts val="6579"/>
              </a:lnSpc>
            </a:pPr>
            <a:r>
              <a:rPr lang="en-US" sz="4699">
                <a:solidFill>
                  <a:srgbClr val="000000"/>
                </a:solidFill>
                <a:latin typeface="Arial"/>
                <a:ea typeface="Arial"/>
                <a:cs typeface="Arial"/>
                <a:sym typeface="Arial"/>
              </a:rPr>
              <a:t>Yêu cầu:</a:t>
            </a:r>
          </a:p>
          <a:p>
            <a:pPr algn="just">
              <a:lnSpc>
                <a:spcPts val="6579"/>
              </a:lnSpc>
            </a:pPr>
            <a:r>
              <a:rPr lang="en-US" sz="4699">
                <a:solidFill>
                  <a:srgbClr val="000000"/>
                </a:solidFill>
                <a:latin typeface="Arial"/>
                <a:ea typeface="Arial"/>
                <a:cs typeface="Arial"/>
                <a:sym typeface="Arial"/>
              </a:rPr>
              <a:t>Xóa 1 dự án tại một vị trí cho trước.</a:t>
            </a:r>
          </a:p>
          <a:p>
            <a:pPr algn="just">
              <a:lnSpc>
                <a:spcPts val="6579"/>
              </a:lnSpc>
            </a:pPr>
            <a:r>
              <a:rPr lang="en-US" sz="4699">
                <a:solidFill>
                  <a:srgbClr val="000000"/>
                </a:solidFill>
                <a:latin typeface="Arial"/>
                <a:ea typeface="Arial"/>
                <a:cs typeface="Arial"/>
                <a:sym typeface="Arial"/>
              </a:rPr>
              <a:t>Các bước:</a:t>
            </a:r>
          </a:p>
          <a:p>
            <a:pPr marL="1014724" lvl="1" indent="-507362" algn="just">
              <a:lnSpc>
                <a:spcPts val="6579"/>
              </a:lnSpc>
              <a:buAutoNum type="arabicPeriod"/>
            </a:pPr>
            <a:r>
              <a:rPr lang="en-US" sz="4699">
                <a:solidFill>
                  <a:srgbClr val="000000"/>
                </a:solidFill>
                <a:latin typeface="Arial"/>
                <a:ea typeface="Arial"/>
                <a:cs typeface="Arial"/>
                <a:sym typeface="Arial"/>
              </a:rPr>
              <a:t>Nhập vị trí cần xóa.</a:t>
            </a:r>
          </a:p>
          <a:p>
            <a:pPr marL="1014724" lvl="1" indent="-507362" algn="just">
              <a:lnSpc>
                <a:spcPts val="6579"/>
              </a:lnSpc>
              <a:buAutoNum type="arabicPeriod"/>
            </a:pPr>
            <a:r>
              <a:rPr lang="en-US" sz="4699">
                <a:solidFill>
                  <a:srgbClr val="000000"/>
                </a:solidFill>
                <a:latin typeface="Arial"/>
                <a:ea typeface="Arial"/>
                <a:cs typeface="Arial"/>
                <a:sym typeface="Arial"/>
              </a:rPr>
              <a:t>Kiểm tra vị trí.</a:t>
            </a:r>
          </a:p>
          <a:p>
            <a:pPr marL="1014724" lvl="1" indent="-507362" algn="just">
              <a:lnSpc>
                <a:spcPts val="6579"/>
              </a:lnSpc>
              <a:buAutoNum type="arabicPeriod"/>
            </a:pPr>
            <a:r>
              <a:rPr lang="en-US" sz="4699">
                <a:solidFill>
                  <a:srgbClr val="000000"/>
                </a:solidFill>
                <a:latin typeface="Arial"/>
                <a:ea typeface="Arial"/>
                <a:cs typeface="Arial"/>
                <a:sym typeface="Arial"/>
              </a:rPr>
              <a:t>Xóa đối tượng tại vị trí đó.</a:t>
            </a:r>
          </a:p>
          <a:p>
            <a:pPr marL="1014724" lvl="1" indent="-507362" algn="just">
              <a:lnSpc>
                <a:spcPts val="6579"/>
              </a:lnSpc>
              <a:buAutoNum type="arabicPeriod"/>
            </a:pPr>
            <a:r>
              <a:rPr lang="en-US" sz="4699">
                <a:solidFill>
                  <a:srgbClr val="000000"/>
                </a:solidFill>
                <a:latin typeface="Arial"/>
                <a:ea typeface="Arial"/>
                <a:cs typeface="Arial"/>
                <a:sym typeface="Arial"/>
              </a:rPr>
              <a:t>Dịch chuyển các phần tử phía sau.</a:t>
            </a:r>
          </a:p>
          <a:p>
            <a:pPr marL="1014724" lvl="1" indent="-507362" algn="just">
              <a:lnSpc>
                <a:spcPts val="6579"/>
              </a:lnSpc>
              <a:buAutoNum type="arabicPeriod"/>
            </a:pPr>
            <a:r>
              <a:rPr lang="en-US" sz="4699">
                <a:solidFill>
                  <a:srgbClr val="000000"/>
                </a:solidFill>
                <a:latin typeface="Arial"/>
                <a:ea typeface="Arial"/>
                <a:cs typeface="Arial"/>
                <a:sym typeface="Arial"/>
              </a:rPr>
              <a:t>Cập nhật lại số lượng dự án.</a:t>
            </a:r>
          </a:p>
          <a:p>
            <a:pPr algn="just">
              <a:lnSpc>
                <a:spcPts val="6579"/>
              </a:lnSpc>
              <a:spcBef>
                <a:spcPct val="0"/>
              </a:spcBef>
            </a:pPr>
            <a:r>
              <a:rPr lang="en-US" sz="4699">
                <a:solidFill>
                  <a:srgbClr val="000000"/>
                </a:solidFill>
                <a:latin typeface="Arial"/>
                <a:ea typeface="Arial"/>
                <a:cs typeface="Arial"/>
                <a:sym typeface="Arial"/>
              </a:rPr>
              <a:t>Kết quả: số lượng dự án giảm đi 1.</a:t>
            </a:r>
          </a:p>
        </p:txBody>
      </p:sp>
      <p:sp>
        <p:nvSpPr>
          <p:cNvPr id="11" name="TextBox 11"/>
          <p:cNvSpPr txBox="1"/>
          <p:nvPr/>
        </p:nvSpPr>
        <p:spPr>
          <a:xfrm>
            <a:off x="5376262" y="544513"/>
            <a:ext cx="6118252" cy="863600"/>
          </a:xfrm>
          <a:prstGeom prst="rect">
            <a:avLst/>
          </a:prstGeom>
        </p:spPr>
        <p:txBody>
          <a:bodyPr lIns="0" tIns="0" rIns="0" bIns="0" rtlCol="0" anchor="t">
            <a:spAutoFit/>
          </a:bodyPr>
          <a:lstStyle/>
          <a:p>
            <a:pPr algn="ctr">
              <a:lnSpc>
                <a:spcPts val="7000"/>
              </a:lnSpc>
            </a:pPr>
            <a:r>
              <a:rPr lang="en-US" sz="5000" b="1">
                <a:solidFill>
                  <a:srgbClr val="000000"/>
                </a:solidFill>
                <a:latin typeface="Noto Sans Bold"/>
                <a:ea typeface="Noto Sans Bold"/>
                <a:cs typeface="Noto Sans Bold"/>
                <a:sym typeface="Noto Sans Bold"/>
              </a:rPr>
              <a:t>5.5.XÓA DỰ ÁN</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8070739" y="1620079"/>
            <a:ext cx="8938911" cy="6687531"/>
          </a:xfrm>
          <a:custGeom>
            <a:avLst/>
            <a:gdLst/>
            <a:ahLst/>
            <a:cxnLst/>
            <a:rect l="l" t="t" r="r" b="b"/>
            <a:pathLst>
              <a:path w="8938911" h="6687531">
                <a:moveTo>
                  <a:pt x="0" y="0"/>
                </a:moveTo>
                <a:lnTo>
                  <a:pt x="8938911" y="0"/>
                </a:lnTo>
                <a:lnTo>
                  <a:pt x="8938911" y="6687531"/>
                </a:lnTo>
                <a:lnTo>
                  <a:pt x="0" y="6687531"/>
                </a:lnTo>
                <a:lnTo>
                  <a:pt x="0" y="0"/>
                </a:lnTo>
                <a:close/>
              </a:path>
            </a:pathLst>
          </a:custGeom>
          <a:blipFill>
            <a:blip r:embed="rId2"/>
            <a:stretch>
              <a:fillRect/>
            </a:stretch>
          </a:blipFill>
        </p:spPr>
      </p:sp>
      <p:sp>
        <p:nvSpPr>
          <p:cNvPr id="3" name="TextBox 3"/>
          <p:cNvSpPr txBox="1"/>
          <p:nvPr/>
        </p:nvSpPr>
        <p:spPr>
          <a:xfrm>
            <a:off x="2094061" y="1315720"/>
            <a:ext cx="5672305" cy="8674100"/>
          </a:xfrm>
          <a:prstGeom prst="rect">
            <a:avLst/>
          </a:prstGeom>
        </p:spPr>
        <p:txBody>
          <a:bodyPr lIns="0" tIns="0" rIns="0" bIns="0" rtlCol="0" anchor="t">
            <a:spAutoFit/>
          </a:bodyPr>
          <a:lstStyle/>
          <a:p>
            <a:pPr algn="just">
              <a:lnSpc>
                <a:spcPts val="4900"/>
              </a:lnSpc>
            </a:pPr>
            <a:r>
              <a:rPr lang="en-US" sz="3500">
                <a:solidFill>
                  <a:srgbClr val="000000"/>
                </a:solidFill>
                <a:latin typeface="Arial"/>
                <a:ea typeface="Arial"/>
                <a:cs typeface="Arial"/>
                <a:sym typeface="Arial"/>
              </a:rPr>
              <a:t>Luồng hoạt động:</a:t>
            </a:r>
          </a:p>
          <a:p>
            <a:pPr algn="just">
              <a:lnSpc>
                <a:spcPts val="4900"/>
              </a:lnSpc>
            </a:pPr>
            <a:r>
              <a:rPr lang="en-US" sz="3500">
                <a:solidFill>
                  <a:srgbClr val="000000"/>
                </a:solidFill>
                <a:latin typeface="Arial"/>
                <a:ea typeface="Arial"/>
                <a:cs typeface="Arial"/>
                <a:sym typeface="Arial"/>
              </a:rPr>
              <a:t>Khởi tạo chương trình</a:t>
            </a:r>
          </a:p>
          <a:p>
            <a:pPr algn="just">
              <a:lnSpc>
                <a:spcPts val="4900"/>
              </a:lnSpc>
            </a:pPr>
            <a:r>
              <a:rPr lang="en-US" sz="3500">
                <a:solidFill>
                  <a:srgbClr val="000000"/>
                </a:solidFill>
                <a:latin typeface="Arial"/>
                <a:ea typeface="Arial"/>
                <a:cs typeface="Arial"/>
                <a:sym typeface="Arial"/>
              </a:rPr>
              <a:t> ↓</a:t>
            </a:r>
          </a:p>
          <a:p>
            <a:pPr algn="just">
              <a:lnSpc>
                <a:spcPts val="4900"/>
              </a:lnSpc>
            </a:pPr>
            <a:r>
              <a:rPr lang="en-US" sz="3500">
                <a:solidFill>
                  <a:srgbClr val="000000"/>
                </a:solidFill>
                <a:latin typeface="Arial"/>
                <a:ea typeface="Arial"/>
                <a:cs typeface="Arial"/>
                <a:sym typeface="Arial"/>
              </a:rPr>
              <a:t>Nhập danh sách dự án</a:t>
            </a:r>
          </a:p>
          <a:p>
            <a:pPr algn="just">
              <a:lnSpc>
                <a:spcPts val="4900"/>
              </a:lnSpc>
            </a:pPr>
            <a:r>
              <a:rPr lang="en-US" sz="3500">
                <a:solidFill>
                  <a:srgbClr val="000000"/>
                </a:solidFill>
                <a:latin typeface="Arial"/>
                <a:ea typeface="Arial"/>
                <a:cs typeface="Arial"/>
                <a:sym typeface="Arial"/>
              </a:rPr>
              <a:t> ↓</a:t>
            </a:r>
          </a:p>
          <a:p>
            <a:pPr algn="just">
              <a:lnSpc>
                <a:spcPts val="4900"/>
              </a:lnSpc>
            </a:pPr>
            <a:r>
              <a:rPr lang="en-US" sz="3500">
                <a:solidFill>
                  <a:srgbClr val="000000"/>
                </a:solidFill>
                <a:latin typeface="Arial"/>
                <a:ea typeface="Arial"/>
                <a:cs typeface="Arial"/>
                <a:sym typeface="Arial"/>
              </a:rPr>
              <a:t>Hiển thị MENU</a:t>
            </a:r>
          </a:p>
          <a:p>
            <a:pPr algn="just">
              <a:lnSpc>
                <a:spcPts val="4900"/>
              </a:lnSpc>
            </a:pPr>
            <a:r>
              <a:rPr lang="en-US" sz="3500">
                <a:solidFill>
                  <a:srgbClr val="000000"/>
                </a:solidFill>
                <a:latin typeface="Arial"/>
                <a:ea typeface="Arial"/>
                <a:cs typeface="Arial"/>
                <a:sym typeface="Arial"/>
              </a:rPr>
              <a:t> ↓</a:t>
            </a:r>
          </a:p>
          <a:p>
            <a:pPr algn="just">
              <a:lnSpc>
                <a:spcPts val="4900"/>
              </a:lnSpc>
            </a:pPr>
            <a:r>
              <a:rPr lang="en-US" sz="3500">
                <a:solidFill>
                  <a:srgbClr val="000000"/>
                </a:solidFill>
                <a:latin typeface="Arial"/>
                <a:ea typeface="Arial"/>
                <a:cs typeface="Arial"/>
                <a:sym typeface="Arial"/>
              </a:rPr>
              <a:t> ├── Nhập/Xuất</a:t>
            </a:r>
          </a:p>
          <a:p>
            <a:pPr algn="just">
              <a:lnSpc>
                <a:spcPts val="4900"/>
              </a:lnSpc>
            </a:pPr>
            <a:r>
              <a:rPr lang="en-US" sz="3500">
                <a:solidFill>
                  <a:srgbClr val="000000"/>
                </a:solidFill>
                <a:latin typeface="Arial"/>
                <a:ea typeface="Arial"/>
                <a:cs typeface="Arial"/>
                <a:sym typeface="Arial"/>
              </a:rPr>
              <a:t> ├── Sắp xếp</a:t>
            </a:r>
          </a:p>
          <a:p>
            <a:pPr algn="just">
              <a:lnSpc>
                <a:spcPts val="4900"/>
              </a:lnSpc>
            </a:pPr>
            <a:r>
              <a:rPr lang="en-US" sz="3500">
                <a:solidFill>
                  <a:srgbClr val="000000"/>
                </a:solidFill>
                <a:latin typeface="Arial"/>
                <a:ea typeface="Arial"/>
                <a:cs typeface="Arial"/>
                <a:sym typeface="Arial"/>
              </a:rPr>
              <a:t> ├── Tìm kiếm</a:t>
            </a:r>
          </a:p>
          <a:p>
            <a:pPr algn="just">
              <a:lnSpc>
                <a:spcPts val="4900"/>
              </a:lnSpc>
            </a:pPr>
            <a:r>
              <a:rPr lang="en-US" sz="3500">
                <a:solidFill>
                  <a:srgbClr val="000000"/>
                </a:solidFill>
                <a:latin typeface="Arial"/>
                <a:ea typeface="Arial"/>
                <a:cs typeface="Arial"/>
                <a:sym typeface="Arial"/>
              </a:rPr>
              <a:t> ├── Bổ sung</a:t>
            </a:r>
          </a:p>
          <a:p>
            <a:pPr algn="just">
              <a:lnSpc>
                <a:spcPts val="4900"/>
              </a:lnSpc>
            </a:pPr>
            <a:r>
              <a:rPr lang="en-US" sz="3500">
                <a:solidFill>
                  <a:srgbClr val="000000"/>
                </a:solidFill>
                <a:latin typeface="Arial"/>
                <a:ea typeface="Arial"/>
                <a:cs typeface="Arial"/>
                <a:sym typeface="Arial"/>
              </a:rPr>
              <a:t> └── Xóa</a:t>
            </a:r>
          </a:p>
          <a:p>
            <a:pPr algn="just">
              <a:lnSpc>
                <a:spcPts val="4900"/>
              </a:lnSpc>
            </a:pPr>
            <a:r>
              <a:rPr lang="en-US" sz="3500">
                <a:solidFill>
                  <a:srgbClr val="000000"/>
                </a:solidFill>
                <a:latin typeface="Arial"/>
                <a:ea typeface="Arial"/>
                <a:cs typeface="Arial"/>
                <a:sym typeface="Arial"/>
              </a:rPr>
              <a:t> ↓</a:t>
            </a:r>
          </a:p>
          <a:p>
            <a:pPr algn="just">
              <a:lnSpc>
                <a:spcPts val="4900"/>
              </a:lnSpc>
              <a:spcBef>
                <a:spcPct val="0"/>
              </a:spcBef>
            </a:pPr>
            <a:r>
              <a:rPr lang="en-US" sz="3500">
                <a:solidFill>
                  <a:srgbClr val="000000"/>
                </a:solidFill>
                <a:latin typeface="Arial"/>
                <a:ea typeface="Arial"/>
                <a:cs typeface="Arial"/>
                <a:sym typeface="Arial"/>
              </a:rPr>
              <a:t>Hiển thị kết quả</a:t>
            </a:r>
          </a:p>
        </p:txBody>
      </p:sp>
      <p:sp>
        <p:nvSpPr>
          <p:cNvPr id="4" name="TextBox 4"/>
          <p:cNvSpPr txBox="1"/>
          <p:nvPr/>
        </p:nvSpPr>
        <p:spPr>
          <a:xfrm>
            <a:off x="1029908" y="223619"/>
            <a:ext cx="10021718" cy="863600"/>
          </a:xfrm>
          <a:prstGeom prst="rect">
            <a:avLst/>
          </a:prstGeom>
        </p:spPr>
        <p:txBody>
          <a:bodyPr lIns="0" tIns="0" rIns="0" bIns="0" rtlCol="0" anchor="t">
            <a:spAutoFit/>
          </a:bodyPr>
          <a:lstStyle/>
          <a:p>
            <a:pPr algn="l">
              <a:lnSpc>
                <a:spcPts val="7000"/>
              </a:lnSpc>
            </a:pPr>
            <a:r>
              <a:rPr lang="en-US" sz="5000" b="1">
                <a:solidFill>
                  <a:srgbClr val="000000"/>
                </a:solidFill>
                <a:latin typeface="Noto Sans Bold"/>
                <a:ea typeface="Noto Sans Bold"/>
                <a:cs typeface="Noto Sans Bold"/>
                <a:sym typeface="Noto Sans Bold"/>
              </a:rPr>
              <a:t>6. PHÂN TÍCH CHƯƠNG TRÌNH</a:t>
            </a:r>
          </a:p>
        </p:txBody>
      </p:sp>
      <p:sp>
        <p:nvSpPr>
          <p:cNvPr id="5" name="TextBox 5"/>
          <p:cNvSpPr txBox="1"/>
          <p:nvPr/>
        </p:nvSpPr>
        <p:spPr>
          <a:xfrm>
            <a:off x="6895989" y="8783860"/>
            <a:ext cx="6411470" cy="1206500"/>
          </a:xfrm>
          <a:prstGeom prst="rect">
            <a:avLst/>
          </a:prstGeom>
        </p:spPr>
        <p:txBody>
          <a:bodyPr lIns="0" tIns="0" rIns="0" bIns="0" rtlCol="0" anchor="t">
            <a:spAutoFit/>
          </a:bodyPr>
          <a:lstStyle/>
          <a:p>
            <a:pPr algn="ctr">
              <a:lnSpc>
                <a:spcPts val="4899"/>
              </a:lnSpc>
            </a:pPr>
            <a:r>
              <a:rPr lang="en-US" sz="3499">
                <a:solidFill>
                  <a:srgbClr val="000000"/>
                </a:solidFill>
                <a:latin typeface="Noto Sans"/>
                <a:ea typeface="Noto Sans"/>
                <a:cs typeface="Noto Sans"/>
                <a:sym typeface="Noto Sans"/>
              </a:rPr>
              <a:t>→ Người dùng có thể lựa chọn chức năng cần thực hiện.</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5400000">
            <a:off x="1462856" y="594544"/>
            <a:ext cx="762503" cy="1630815"/>
          </a:xfrm>
          <a:custGeom>
            <a:avLst/>
            <a:gdLst/>
            <a:ahLst/>
            <a:cxnLst/>
            <a:rect l="l" t="t" r="r" b="b"/>
            <a:pathLst>
              <a:path w="762503" h="1630815">
                <a:moveTo>
                  <a:pt x="0" y="0"/>
                </a:moveTo>
                <a:lnTo>
                  <a:pt x="762503" y="0"/>
                </a:lnTo>
                <a:lnTo>
                  <a:pt x="762503" y="1630815"/>
                </a:lnTo>
                <a:lnTo>
                  <a:pt x="0" y="1630815"/>
                </a:lnTo>
                <a:lnTo>
                  <a:pt x="0" y="0"/>
                </a:lnTo>
                <a:close/>
              </a:path>
            </a:pathLst>
          </a:custGeom>
          <a:blipFill>
            <a:blip>
              <a:extLst>
                <a:ext uri="{96DAC541-7B7A-43D3-8B79-37D633B846F1}">
                  <asvg:svgBlip xmlns:asvg="http://schemas.microsoft.com/office/drawing/2016/SVG/main" r:embed="rId2"/>
                </a:ext>
              </a:extLst>
            </a:blip>
            <a:stretch>
              <a:fillRect b="-23452"/>
            </a:stretch>
          </a:blipFill>
        </p:spPr>
      </p:sp>
      <p:grpSp>
        <p:nvGrpSpPr>
          <p:cNvPr id="3" name="Group 3"/>
          <p:cNvGrpSpPr/>
          <p:nvPr/>
        </p:nvGrpSpPr>
        <p:grpSpPr>
          <a:xfrm>
            <a:off x="-1791394" y="-491513"/>
            <a:ext cx="21870788" cy="13092307"/>
            <a:chOff x="0" y="0"/>
            <a:chExt cx="29161051" cy="17456410"/>
          </a:xfrm>
        </p:grpSpPr>
        <p:grpSp>
          <p:nvGrpSpPr>
            <p:cNvPr id="4" name="Group 4"/>
            <p:cNvGrpSpPr/>
            <p:nvPr/>
          </p:nvGrpSpPr>
          <p:grpSpPr>
            <a:xfrm>
              <a:off x="22907992" y="0"/>
              <a:ext cx="6253059" cy="7991627"/>
              <a:chOff x="0" y="0"/>
              <a:chExt cx="546542" cy="698500"/>
            </a:xfrm>
          </p:grpSpPr>
          <p:sp>
            <p:nvSpPr>
              <p:cNvPr id="5" name="Freeform 5"/>
              <p:cNvSpPr/>
              <p:nvPr/>
            </p:nvSpPr>
            <p:spPr>
              <a:xfrm>
                <a:off x="0" y="0"/>
                <a:ext cx="546542" cy="698500"/>
              </a:xfrm>
              <a:custGeom>
                <a:avLst/>
                <a:gdLst/>
                <a:ahLst/>
                <a:cxnLst/>
                <a:rect l="l" t="t" r="r" b="b"/>
                <a:pathLst>
                  <a:path w="546542" h="698500">
                    <a:moveTo>
                      <a:pt x="546542" y="349250"/>
                    </a:moveTo>
                    <a:lnTo>
                      <a:pt x="343342" y="698500"/>
                    </a:lnTo>
                    <a:lnTo>
                      <a:pt x="203200" y="698500"/>
                    </a:lnTo>
                    <a:lnTo>
                      <a:pt x="0" y="349250"/>
                    </a:lnTo>
                    <a:lnTo>
                      <a:pt x="203200" y="0"/>
                    </a:lnTo>
                    <a:lnTo>
                      <a:pt x="343342" y="0"/>
                    </a:lnTo>
                    <a:lnTo>
                      <a:pt x="546542" y="349250"/>
                    </a:lnTo>
                    <a:close/>
                  </a:path>
                </a:pathLst>
              </a:custGeom>
              <a:solidFill>
                <a:srgbClr val="0F81CA"/>
              </a:solidFill>
            </p:spPr>
          </p:sp>
          <p:sp>
            <p:nvSpPr>
              <p:cNvPr id="6" name="TextBox 6"/>
              <p:cNvSpPr txBox="1"/>
              <p:nvPr/>
            </p:nvSpPr>
            <p:spPr>
              <a:xfrm>
                <a:off x="114300" y="-38100"/>
                <a:ext cx="317942" cy="736600"/>
              </a:xfrm>
              <a:prstGeom prst="rect">
                <a:avLst/>
              </a:prstGeom>
            </p:spPr>
            <p:txBody>
              <a:bodyPr lIns="50800" tIns="50800" rIns="50800" bIns="50800" rtlCol="0" anchor="ctr"/>
              <a:lstStyle/>
              <a:p>
                <a:pPr algn="ctr">
                  <a:lnSpc>
                    <a:spcPts val="2659"/>
                  </a:lnSpc>
                  <a:spcBef>
                    <a:spcPct val="0"/>
                  </a:spcBef>
                </a:pPr>
                <a:endParaRPr/>
              </a:p>
            </p:txBody>
          </p:sp>
        </p:grpSp>
        <p:grpSp>
          <p:nvGrpSpPr>
            <p:cNvPr id="7" name="Group 7"/>
            <p:cNvGrpSpPr/>
            <p:nvPr/>
          </p:nvGrpSpPr>
          <p:grpSpPr>
            <a:xfrm>
              <a:off x="0" y="10939102"/>
              <a:ext cx="5099476" cy="6517308"/>
              <a:chOff x="0" y="0"/>
              <a:chExt cx="546542" cy="698500"/>
            </a:xfrm>
          </p:grpSpPr>
          <p:sp>
            <p:nvSpPr>
              <p:cNvPr id="8" name="Freeform 8"/>
              <p:cNvSpPr/>
              <p:nvPr/>
            </p:nvSpPr>
            <p:spPr>
              <a:xfrm>
                <a:off x="0" y="0"/>
                <a:ext cx="546542" cy="698500"/>
              </a:xfrm>
              <a:custGeom>
                <a:avLst/>
                <a:gdLst/>
                <a:ahLst/>
                <a:cxnLst/>
                <a:rect l="l" t="t" r="r" b="b"/>
                <a:pathLst>
                  <a:path w="546542" h="698500">
                    <a:moveTo>
                      <a:pt x="546542" y="349250"/>
                    </a:moveTo>
                    <a:lnTo>
                      <a:pt x="343342" y="698500"/>
                    </a:lnTo>
                    <a:lnTo>
                      <a:pt x="203200" y="698500"/>
                    </a:lnTo>
                    <a:lnTo>
                      <a:pt x="0" y="349250"/>
                    </a:lnTo>
                    <a:lnTo>
                      <a:pt x="203200" y="0"/>
                    </a:lnTo>
                    <a:lnTo>
                      <a:pt x="343342" y="0"/>
                    </a:lnTo>
                    <a:lnTo>
                      <a:pt x="546542" y="349250"/>
                    </a:lnTo>
                    <a:close/>
                  </a:path>
                </a:pathLst>
              </a:custGeom>
              <a:solidFill>
                <a:srgbClr val="023D63"/>
              </a:solidFill>
            </p:spPr>
          </p:sp>
          <p:sp>
            <p:nvSpPr>
              <p:cNvPr id="9" name="TextBox 9"/>
              <p:cNvSpPr txBox="1"/>
              <p:nvPr/>
            </p:nvSpPr>
            <p:spPr>
              <a:xfrm>
                <a:off x="114300" y="-38100"/>
                <a:ext cx="317942" cy="736600"/>
              </a:xfrm>
              <a:prstGeom prst="rect">
                <a:avLst/>
              </a:prstGeom>
            </p:spPr>
            <p:txBody>
              <a:bodyPr lIns="50800" tIns="50800" rIns="50800" bIns="50800" rtlCol="0" anchor="ctr"/>
              <a:lstStyle/>
              <a:p>
                <a:pPr algn="ctr">
                  <a:lnSpc>
                    <a:spcPts val="2659"/>
                  </a:lnSpc>
                  <a:spcBef>
                    <a:spcPct val="0"/>
                  </a:spcBef>
                </a:pPr>
                <a:endParaRPr/>
              </a:p>
            </p:txBody>
          </p:sp>
        </p:grpSp>
      </p:grpSp>
      <p:sp>
        <p:nvSpPr>
          <p:cNvPr id="10" name="Freeform 10"/>
          <p:cNvSpPr/>
          <p:nvPr/>
        </p:nvSpPr>
        <p:spPr>
          <a:xfrm>
            <a:off x="3959037" y="2004305"/>
            <a:ext cx="10845756" cy="8054355"/>
          </a:xfrm>
          <a:custGeom>
            <a:avLst/>
            <a:gdLst/>
            <a:ahLst/>
            <a:cxnLst/>
            <a:rect l="l" t="t" r="r" b="b"/>
            <a:pathLst>
              <a:path w="10845756" h="8054355">
                <a:moveTo>
                  <a:pt x="0" y="0"/>
                </a:moveTo>
                <a:lnTo>
                  <a:pt x="10845757" y="0"/>
                </a:lnTo>
                <a:lnTo>
                  <a:pt x="10845757" y="8054355"/>
                </a:lnTo>
                <a:lnTo>
                  <a:pt x="0" y="8054355"/>
                </a:lnTo>
                <a:lnTo>
                  <a:pt x="0" y="0"/>
                </a:lnTo>
                <a:close/>
              </a:path>
            </a:pathLst>
          </a:custGeom>
          <a:blipFill>
            <a:blip r:embed="rId3"/>
            <a:stretch>
              <a:fillRect/>
            </a:stretch>
          </a:blipFill>
        </p:spPr>
      </p:sp>
      <p:sp>
        <p:nvSpPr>
          <p:cNvPr id="11" name="TextBox 11"/>
          <p:cNvSpPr txBox="1"/>
          <p:nvPr/>
        </p:nvSpPr>
        <p:spPr>
          <a:xfrm>
            <a:off x="4007907" y="962657"/>
            <a:ext cx="10418795" cy="887095"/>
          </a:xfrm>
          <a:prstGeom prst="rect">
            <a:avLst/>
          </a:prstGeom>
        </p:spPr>
        <p:txBody>
          <a:bodyPr lIns="0" tIns="0" rIns="0" bIns="0" rtlCol="0" anchor="t">
            <a:spAutoFit/>
          </a:bodyPr>
          <a:lstStyle/>
          <a:p>
            <a:pPr algn="ctr">
              <a:lnSpc>
                <a:spcPts val="7279"/>
              </a:lnSpc>
            </a:pPr>
            <a:r>
              <a:rPr lang="en-US" sz="5199" b="1">
                <a:solidFill>
                  <a:srgbClr val="000000"/>
                </a:solidFill>
                <a:latin typeface="Noto Sans Bold"/>
                <a:ea typeface="Noto Sans Bold"/>
                <a:cs typeface="Noto Sans Bold"/>
                <a:sym typeface="Noto Sans Bold"/>
              </a:rPr>
              <a:t>7. GIAO DIỆN CHƯƠNG TRÌNH</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4"/>
          <a:srcRect/>
          <a:stretch>
            <a:fillRect/>
          </a:stretch>
        </p:blipFill>
        <p:spPr>
          <a:xfrm>
            <a:off x="1784425" y="1330278"/>
            <a:ext cx="15474875" cy="8229600"/>
          </a:xfrm>
          <a:prstGeom prst="rect">
            <a:avLst/>
          </a:prstGeom>
        </p:spPr>
      </p:pic>
      <p:sp>
        <p:nvSpPr>
          <p:cNvPr id="3" name="TextBox 3"/>
          <p:cNvSpPr txBox="1"/>
          <p:nvPr/>
        </p:nvSpPr>
        <p:spPr>
          <a:xfrm>
            <a:off x="4863129" y="313052"/>
            <a:ext cx="8561742" cy="863600"/>
          </a:xfrm>
          <a:prstGeom prst="rect">
            <a:avLst/>
          </a:prstGeom>
        </p:spPr>
        <p:txBody>
          <a:bodyPr lIns="0" tIns="0" rIns="0" bIns="0" rtlCol="0" anchor="t">
            <a:spAutoFit/>
          </a:bodyPr>
          <a:lstStyle/>
          <a:p>
            <a:pPr algn="ctr">
              <a:lnSpc>
                <a:spcPts val="7000"/>
              </a:lnSpc>
            </a:pPr>
            <a:r>
              <a:rPr lang="en-US" sz="5000" b="1">
                <a:solidFill>
                  <a:srgbClr val="000000"/>
                </a:solidFill>
                <a:latin typeface="Noto Sans Bold"/>
                <a:ea typeface="Noto Sans Bold"/>
                <a:cs typeface="Noto Sans Bold"/>
                <a:sym typeface="Noto Sans Bold"/>
              </a:rPr>
              <a:t>8. Demo chương trình</a:t>
            </a:r>
          </a:p>
        </p:txBody>
      </p:sp>
    </p:spTree>
  </p:cSld>
  <p:clrMapOvr>
    <a:masterClrMapping/>
  </p:clrMapOvr>
  <p:timing>
    <p:tnLst>
      <p:par>
        <p:cTn id="1" dur="indefinite" restart="never" nodeType="tmRoot">
          <p:childTnLst>
            <p:video>
              <p:cMediaNode vol="100000">
                <p:cTn id="2" fill="hold" display="0">
                  <p:stCondLst>
                    <p:cond delay="indefinite"/>
                  </p:stCondLst>
                </p:cTn>
                <p:tgtEl>
                  <p:spTgt spid="2"/>
                </p:tgtEl>
              </p:cMediaNode>
            </p:video>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grpSp>
        <p:nvGrpSpPr>
          <p:cNvPr id="3" name="Group 3"/>
          <p:cNvGrpSpPr/>
          <p:nvPr/>
        </p:nvGrpSpPr>
        <p:grpSpPr>
          <a:xfrm>
            <a:off x="5095206" y="1203295"/>
            <a:ext cx="8055005" cy="8055005"/>
            <a:chOff x="0" y="0"/>
            <a:chExt cx="812800" cy="812800"/>
          </a:xfrm>
        </p:grpSpPr>
        <p:sp>
          <p:nvSpPr>
            <p:cNvPr id="4" name="Freeform 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A2540">
                <a:alpha val="86667"/>
              </a:srgbClr>
            </a:solidFill>
          </p:spPr>
        </p:sp>
        <p:sp>
          <p:nvSpPr>
            <p:cNvPr id="5" name="TextBox 5"/>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6" name="Group 6"/>
          <p:cNvGrpSpPr/>
          <p:nvPr/>
        </p:nvGrpSpPr>
        <p:grpSpPr>
          <a:xfrm>
            <a:off x="13150211" y="1590936"/>
            <a:ext cx="7173941" cy="7173941"/>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19050" cap="sq">
              <a:solidFill>
                <a:srgbClr val="A9C6FF">
                  <a:alpha val="69804"/>
                </a:srgbClr>
              </a:solidFill>
              <a:prstDash val="solid"/>
              <a:miter/>
            </a:ln>
          </p:spPr>
        </p:sp>
        <p:sp>
          <p:nvSpPr>
            <p:cNvPr id="8" name="TextBox 8"/>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9" name="Group 9"/>
          <p:cNvGrpSpPr/>
          <p:nvPr/>
        </p:nvGrpSpPr>
        <p:grpSpPr>
          <a:xfrm>
            <a:off x="-2078735" y="1590936"/>
            <a:ext cx="7173941" cy="7173941"/>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19050" cap="sq">
              <a:solidFill>
                <a:srgbClr val="A9C6FF">
                  <a:alpha val="69804"/>
                </a:srgbClr>
              </a:solidFill>
              <a:prstDash val="solid"/>
              <a:miter/>
            </a:ln>
          </p:spPr>
        </p:sp>
        <p:sp>
          <p:nvSpPr>
            <p:cNvPr id="11" name="TextBox 11"/>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sp>
        <p:nvSpPr>
          <p:cNvPr id="13" name="TextBox 13"/>
          <p:cNvSpPr txBox="1"/>
          <p:nvPr/>
        </p:nvSpPr>
        <p:spPr>
          <a:xfrm>
            <a:off x="2832934" y="4983699"/>
            <a:ext cx="11674181" cy="679673"/>
          </a:xfrm>
          <a:prstGeom prst="rect">
            <a:avLst/>
          </a:prstGeom>
        </p:spPr>
        <p:txBody>
          <a:bodyPr wrap="square" lIns="0" tIns="0" rIns="0" bIns="0" rtlCol="0" anchor="t">
            <a:spAutoFit/>
          </a:bodyPr>
          <a:lstStyle/>
          <a:p>
            <a:pPr algn="ctr">
              <a:lnSpc>
                <a:spcPts val="5289"/>
              </a:lnSpc>
              <a:spcBef>
                <a:spcPct val="0"/>
              </a:spcBef>
            </a:pPr>
            <a:r>
              <a:rPr lang="en-US" sz="4500" b="1" dirty="0">
                <a:solidFill>
                  <a:srgbClr val="FFFFFF"/>
                </a:solidFill>
                <a:latin typeface="Noto Sans Bold"/>
                <a:ea typeface="Noto Sans Bold"/>
                <a:cs typeface="Noto Sans Bold"/>
                <a:sym typeface="Noto Sans Bold"/>
              </a:rPr>
              <a:t>CẢM ƠN THẦY VÀ CÁC BẠN ĐÃ THEO DÕI</a:t>
            </a:r>
            <a:r>
              <a:rPr lang="en-US" sz="3778" b="1" dirty="0">
                <a:solidFill>
                  <a:srgbClr val="FFFFFF"/>
                </a:solidFill>
                <a:latin typeface="Noto Sans Bold"/>
                <a:ea typeface="Noto Sans Bold"/>
                <a:cs typeface="Noto Sans Bold"/>
                <a:sym typeface="Noto Sans Bold"/>
              </a:rPr>
              <a: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TotalTime>
  <Words>1240</Words>
  <Application>Microsoft Office PowerPoint</Application>
  <PresentationFormat>Custom</PresentationFormat>
  <Paragraphs>169</Paragraphs>
  <Slides>21</Slides>
  <Notes>0</Notes>
  <HiddenSlides>0</HiddenSlides>
  <MMClips>1</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21</vt:i4>
      </vt:variant>
    </vt:vector>
  </HeadingPairs>
  <TitlesOfParts>
    <vt:vector size="27" baseType="lpstr">
      <vt:lpstr>Arial Bold</vt:lpstr>
      <vt:lpstr>Noto Sans</vt:lpstr>
      <vt:lpstr>Arial</vt:lpstr>
      <vt:lpstr>Calibri</vt:lpstr>
      <vt:lpstr>Noto Sans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Nhóm 5</dc:title>
  <cp:lastModifiedBy>Administrator</cp:lastModifiedBy>
  <cp:revision>2</cp:revision>
  <dcterms:created xsi:type="dcterms:W3CDTF">2006-08-16T00:00:00Z</dcterms:created>
  <dcterms:modified xsi:type="dcterms:W3CDTF">2026-10-08T08:59:09Z</dcterms:modified>
  <dc:identifier>DAHFtjYt6xc</dc:identifier>
</cp:coreProperties>
</file>